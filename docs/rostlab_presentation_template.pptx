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slides/slide6.xml" ContentType="application/vnd.openxmlformats-officedocument.presentationml.slide+xml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</p:sldMasterIdLst>
  <p:sldIdLst>
    <p:sldId id="256" r:id="rId5"/>
    <p:sldId id="257" r:id="rId6"/>
    <p:sldId id="261" r:id="rId11"/>
    <p:sldId id="258" r:id="rId7"/>
    <p:sldId id="259" r:id="rId8"/>
    <p:sldId id="260" r:id="rId9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presProps" Target="presProps.xml"/>
  <Relationship Id="rId11" Type="http://schemas.openxmlformats.org/officeDocument/2006/relationships/slide" Target="slides/slide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32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320" cy="341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1FF70E3-F46E-46DB-B1B4-B2FA602DCB0A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32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8320" cy="341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2"/>
          </p:nvPr>
        </p:nvSpPr>
        <p:spPr>
          <a:xfrm>
            <a:off x="7740000" y="4320000"/>
            <a:ext cx="1279080" cy="73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DC0A19-A797-47B4-9DA0-3AD3361817BC}" type="slidenum"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Num" idx="3"/>
          </p:nvPr>
        </p:nvSpPr>
        <p:spPr>
          <a:xfrm>
            <a:off x="7740000" y="4320000"/>
            <a:ext cx="1279080" cy="73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2015B5-2F08-4B3D-A29C-C8DF0792E61F}" type="slidenum"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32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320" cy="341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A0B8FDE-6103-4AAD-AFD1-8CB8973E6B9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32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8320" cy="341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>
          <a:xfrm>
            <a:off x="7740000" y="4320000"/>
            <a:ext cx="1279080" cy="73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F564EE-DD76-48C4-A2F1-FAFD436389C8}" type="slidenum"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8320" cy="624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8320" cy="341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4"/>
          </p:nvPr>
        </p:nvSpPr>
        <p:spPr>
          <a:xfrm>
            <a:off x="7740000" y="4320000"/>
            <a:ext cx="1279080" cy="73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85DCBB-7376-44D6-851D-B388BC57FEA6}" type="slidenum">
              <a:rPr b="0" lang="en" sz="1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5" Type="http://schemas.openxmlformats.org/officeDocument/2006/relationships/slideLayout" Target="../slideLayouts/slideLayout1.xml"/>
<Relationship Id="rId10" Type="http://schemas.openxmlformats.org/officeDocument/2006/relationships/image" Target="../media/image4.png"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www.data-to-viz.com/" TargetMode="External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65760" y="1298448"/>
            <a:ext cx="8519040" cy="1161288"/>
          </a:xfrm>
          <a:prstGeom prst="rect">
            <a:avLst/>
          </a:prstGeom>
          <a:noFill/>
          <a:ln w="0">
            <a:noFill/>
          </a:ln>
        </p:spPr>
        <p:txBody>
          <a:bodyPr lIns="0" rIns="0" tIns="122040" bIns="122040" anchor="b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40" strike="noStrike" u="none">
                <a:solidFill>
                  <a:schemeClr val="dk1"/>
                </a:solidFill>
                <a:effectLst/>
                <a:uFillTx/>
                <a:latin typeface="Arial"/>
                <a:ea typeface="Avenir"/>
              </a:rPr>
              <a:t>Title</a:t>
            </a:r>
            <a:br>
              <a:rPr sz="384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venir"/>
              </a:rPr>
              <a:t>Subtitle – Date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8" name="Google Shape;56;p 1" descr=""/>
          <p:cNvPicPr/>
          <p:nvPr/>
        </p:nvPicPr>
        <p:blipFill>
          <a:blip r:embed="rId1"/>
          <a:stretch/>
        </p:blipFill>
        <p:spPr>
          <a:xfrm>
            <a:off x="365760" y="136080"/>
            <a:ext cx="792360" cy="76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Google Shape;58;p 1" descr=""/>
          <p:cNvPicPr/>
          <p:nvPr/>
        </p:nvPicPr>
        <p:blipFill>
          <a:blip r:embed="rId2"/>
          <a:stretch/>
        </p:blipFill>
        <p:spPr>
          <a:xfrm>
            <a:off x="1260000" y="282960"/>
            <a:ext cx="928440" cy="47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Google Shape;60;p 1" descr=""/>
          <p:cNvPicPr/>
          <p:nvPr/>
        </p:nvPicPr>
        <p:blipFill>
          <a:blip r:embed="rId3"/>
          <a:stretch/>
        </p:blipFill>
        <p:spPr>
          <a:xfrm>
            <a:off x="7032960" y="282600"/>
            <a:ext cx="1799280" cy="477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0" name="Team member 1"/>
          <p:cNvGrpSpPr/>
          <p:nvPr/>
        </p:nvGrpSpPr>
        <p:grpSpPr>
          <a:xfrm>
            <a:off x="777240" y="2715768"/>
            <a:ext cx="1828800" cy="1655064"/>
            <a:chOff x="777240" y="2715768"/>
            <a:chExt cx="1828800" cy="1655064"/>
          </a:xfrm>
        </p:grpSpPr>
        <p:pic>
          <p:nvPicPr>
            <p:cNvPr id="31" name="Photo 1" descr="Photo of team member 1: replace with your own photo (right-click, Change Picture / Replace image)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43000" y="2715768"/>
              <a:ext cx="1097280" cy="1097280"/>
            </a:xfrm>
            <a:prstGeom prst="ellipse">
              <a:avLst/>
            </a:prstGeom>
          </p:spPr>
        </p:pic>
        <p:sp>
          <p:nvSpPr>
            <p:cNvPr id="32" name="Name 1"/>
            <p:cNvSpPr txBox="1"/>
            <p:nvPr/>
          </p:nvSpPr>
          <p:spPr>
            <a:xfrm>
              <a:off x="777240" y="3867912"/>
              <a:ext cx="1828800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600" b="0" u="none" strike="noStrike">
                  <a:solidFill>
                    <a:srgbClr val="434343"/>
                  </a:solidFill>
                  <a:latin typeface="Arial"/>
                  <a:ea typeface="Avenir"/>
                </a:rPr>
                <a:t>Student Name</a:t>
              </a:r>
            </a:p>
            <a:p>
              <a:pPr algn="ctr">
                <a:spcBef>
                  <a:spcPts val="200"/>
                </a:spcBef>
                <a:buNone/>
              </a:pPr>
              <a:r>
                <a:rPr lang="en-US" sz="1200" b="0" u="sng" strike="noStrike">
                  <a:solidFill>
                    <a:srgbClr val="467886"/>
                  </a:solidFill>
                  <a:latin typeface="Arial"/>
                  <a:ea typeface="Avenir"/>
                </a:rPr>
                <a:t>student.mail@tum.de</a:t>
              </a:r>
            </a:p>
          </p:txBody>
        </p:sp>
      </p:grpSp>
      <p:grpSp>
        <p:nvGrpSpPr>
          <p:cNvPr id="33" name="Team member 2"/>
          <p:cNvGrpSpPr/>
          <p:nvPr/>
        </p:nvGrpSpPr>
        <p:grpSpPr>
          <a:xfrm>
            <a:off x="2697480" y="2715768"/>
            <a:ext cx="1828800" cy="1655064"/>
            <a:chOff x="2697480" y="2715768"/>
            <a:chExt cx="1828800" cy="1655064"/>
          </a:xfrm>
        </p:grpSpPr>
        <p:pic>
          <p:nvPicPr>
            <p:cNvPr id="34" name="Photo 2" descr="Photo of team member 2: replace with your own photo (right-click, Change Picture / Replace image)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63240" y="2715768"/>
              <a:ext cx="1097280" cy="1097280"/>
            </a:xfrm>
            <a:prstGeom prst="ellipse">
              <a:avLst/>
            </a:prstGeom>
          </p:spPr>
        </p:pic>
        <p:sp>
          <p:nvSpPr>
            <p:cNvPr id="35" name="Name 2"/>
            <p:cNvSpPr txBox="1"/>
            <p:nvPr/>
          </p:nvSpPr>
          <p:spPr>
            <a:xfrm>
              <a:off x="2697480" y="3867912"/>
              <a:ext cx="1828800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600" b="0" u="none" strike="noStrike">
                  <a:solidFill>
                    <a:srgbClr val="434343"/>
                  </a:solidFill>
                  <a:latin typeface="Arial"/>
                  <a:ea typeface="Avenir"/>
                </a:rPr>
                <a:t>Student Name</a:t>
              </a:r>
            </a:p>
            <a:p>
              <a:pPr algn="ctr">
                <a:spcBef>
                  <a:spcPts val="200"/>
                </a:spcBef>
                <a:buNone/>
              </a:pPr>
              <a:r>
                <a:rPr lang="en-US" sz="1200" b="0" u="sng" strike="noStrike">
                  <a:solidFill>
                    <a:srgbClr val="467886"/>
                  </a:solidFill>
                  <a:latin typeface="Arial"/>
                  <a:ea typeface="Avenir"/>
                </a:rPr>
                <a:t>student.mail@tum.de</a:t>
              </a:r>
            </a:p>
          </p:txBody>
        </p:sp>
      </p:grpSp>
      <p:grpSp>
        <p:nvGrpSpPr>
          <p:cNvPr id="36" name="Team member 3"/>
          <p:cNvGrpSpPr/>
          <p:nvPr/>
        </p:nvGrpSpPr>
        <p:grpSpPr>
          <a:xfrm>
            <a:off x="4617720" y="2715768"/>
            <a:ext cx="1828800" cy="1655064"/>
            <a:chOff x="4617720" y="2715768"/>
            <a:chExt cx="1828800" cy="1655064"/>
          </a:xfrm>
        </p:grpSpPr>
        <p:pic>
          <p:nvPicPr>
            <p:cNvPr id="37" name="Photo 3" descr="Photo of team member 3: replace with your own photo (right-click, Change Picture / Replace image)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83480" y="2715768"/>
              <a:ext cx="1097280" cy="1097280"/>
            </a:xfrm>
            <a:prstGeom prst="ellipse">
              <a:avLst/>
            </a:prstGeom>
          </p:spPr>
        </p:pic>
        <p:sp>
          <p:nvSpPr>
            <p:cNvPr id="38" name="Name 3"/>
            <p:cNvSpPr txBox="1"/>
            <p:nvPr/>
          </p:nvSpPr>
          <p:spPr>
            <a:xfrm>
              <a:off x="4617720" y="3867912"/>
              <a:ext cx="1828800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600" b="0" u="none" strike="noStrike">
                  <a:solidFill>
                    <a:srgbClr val="434343"/>
                  </a:solidFill>
                  <a:latin typeface="Arial"/>
                  <a:ea typeface="Avenir"/>
                </a:rPr>
                <a:t>Student Name</a:t>
              </a:r>
            </a:p>
            <a:p>
              <a:pPr algn="ctr">
                <a:spcBef>
                  <a:spcPts val="200"/>
                </a:spcBef>
                <a:buNone/>
              </a:pPr>
              <a:r>
                <a:rPr lang="en-US" sz="1200" b="0" u="sng" strike="noStrike">
                  <a:solidFill>
                    <a:srgbClr val="467886"/>
                  </a:solidFill>
                  <a:latin typeface="Arial"/>
                  <a:ea typeface="Avenir"/>
                </a:rPr>
                <a:t>student.mail@tum.de</a:t>
              </a:r>
            </a:p>
          </p:txBody>
        </p:sp>
      </p:grpSp>
      <p:grpSp>
        <p:nvGrpSpPr>
          <p:cNvPr id="39" name="Team member 4"/>
          <p:cNvGrpSpPr/>
          <p:nvPr/>
        </p:nvGrpSpPr>
        <p:grpSpPr>
          <a:xfrm>
            <a:off x="6537960" y="2715768"/>
            <a:ext cx="1828800" cy="1655064"/>
            <a:chOff x="6537960" y="2715768"/>
            <a:chExt cx="1828800" cy="1655064"/>
          </a:xfrm>
        </p:grpSpPr>
        <p:pic>
          <p:nvPicPr>
            <p:cNvPr id="40" name="Photo 4" descr="Photo of team member 4: replace with your own photo (right-click, Change Picture / Replace image)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03720" y="2715768"/>
              <a:ext cx="1097280" cy="1097280"/>
            </a:xfrm>
            <a:prstGeom prst="ellipse">
              <a:avLst/>
            </a:prstGeom>
          </p:spPr>
        </p:pic>
        <p:sp>
          <p:nvSpPr>
            <p:cNvPr id="41" name="Name 4"/>
            <p:cNvSpPr txBox="1"/>
            <p:nvPr/>
          </p:nvSpPr>
          <p:spPr>
            <a:xfrm>
              <a:off x="6537960" y="3867912"/>
              <a:ext cx="1828800" cy="5029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600" b="0" u="none" strike="noStrike">
                  <a:solidFill>
                    <a:srgbClr val="434343"/>
                  </a:solidFill>
                  <a:latin typeface="Arial"/>
                  <a:ea typeface="Avenir"/>
                </a:rPr>
                <a:t>Student Name</a:t>
              </a:r>
            </a:p>
            <a:p>
              <a:pPr algn="ctr">
                <a:spcBef>
                  <a:spcPts val="200"/>
                </a:spcBef>
                <a:buNone/>
              </a:pPr>
              <a:r>
                <a:rPr lang="en-US" sz="1200" b="0" u="sng" strike="noStrike">
                  <a:solidFill>
                    <a:srgbClr val="467886"/>
                  </a:solidFill>
                  <a:latin typeface="Arial"/>
                  <a:ea typeface="Avenir"/>
                </a:rPr>
                <a:t>student.mail@tum.de</a:t>
              </a: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Citing correctly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547880" cy="341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i="1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Cite anything that is not your original work: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1483"/>
              </a:spcBef>
              <a:spcAft>
                <a:spcPts val="283"/>
              </a:spcAft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Tables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Methods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Databases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Images/Figures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Non-basic knowledge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/>
          <p:nvPr/>
        </p:nvSpPr>
        <p:spPr>
          <a:xfrm>
            <a:off x="4849200" y="1152360"/>
            <a:ext cx="406908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rmAutofit lnSpcReduction="9999"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i="1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Possible Methods:</a:t>
            </a:r>
            <a:br>
              <a:rPr sz="1800"/>
            </a:b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Directly in the text, e.g.: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 applied method X (Authors, Year) </a:t>
            </a: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 data Y (Authors, Year)</a:t>
            </a:r>
            <a:br>
              <a:rPr sz="1800"/>
            </a:br>
            <a:br>
              <a:rPr sz="1800"/>
            </a:b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On the bottom of the slides: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 applied method </a:t>
            </a:r>
            <a:br>
              <a:rPr sz="1800"/>
            </a:b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  [1] on data Y  [2]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Google Shape;503;p 1"/>
          <p:cNvSpPr/>
          <p:nvPr/>
        </p:nvSpPr>
        <p:spPr>
          <a:xfrm>
            <a:off x="228600" y="4572720"/>
            <a:ext cx="429768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[1] F. First Author ... L. Last Author</a:t>
            </a:r>
            <a:r>
              <a:rPr b="0" i="1" lang="en" sz="1000" strike="noStrike" u="non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.</a:t>
            </a:r>
            <a:r>
              <a:rPr b="0" lang="en" sz="1000" strike="noStrike" u="non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 Title. </a:t>
            </a:r>
            <a:r>
              <a:rPr b="0" i="1" lang="en" sz="1000" strike="noStrike" u="non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Journal</a:t>
            </a:r>
            <a:r>
              <a:rPr b="0" lang="en" sz="1000" strike="noStrike" u="non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 (Year).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[2] F. First Author ... L. Last Author</a:t>
            </a:r>
            <a:r>
              <a:rPr b="0" i="1" lang="en" sz="1000" strike="noStrike" u="non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.</a:t>
            </a:r>
            <a:r>
              <a:rPr b="0" lang="en" sz="1000" strike="noStrike" u="non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 Title. </a:t>
            </a:r>
            <a:r>
              <a:rPr b="0" i="1" lang="en" sz="1000" strike="noStrike" u="non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Journal</a:t>
            </a:r>
            <a:r>
              <a:rPr b="0" lang="en" sz="1000" strike="noStrike" u="none">
                <a:solidFill>
                  <a:srgbClr val="999999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 (Year).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72EBCBF-505A-4D73-84CA-09C39666602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14904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Presentation: Key-Points - Style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80000" y="720000"/>
            <a:ext cx="8650080" cy="419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Colours: Color-blind friendly, only use if necessary, no fancy „enhancements“ to slides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50000"/>
              </a:lnSpc>
              <a:spcBef>
                <a:spcPts val="1417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Font Size: Make it even ridiculously large. Don't worry: We never heard complaints about font sizes being too large. Also applies for visual elements (graphs)!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50000"/>
              </a:lnSpc>
              <a:spcBef>
                <a:spcPts val="1417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as little text as possible (no lecture slides!)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50000"/>
              </a:lnSpc>
              <a:spcBef>
                <a:spcPts val="1417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Use appropriate visualization, see e.g.: </a:t>
            </a:r>
            <a:r>
              <a:rPr b="0" lang="en" sz="1800" strike="noStrike" u="sng">
                <a:solidFill>
                  <a:srgbClr val="0097a7"/>
                </a:solidFill>
                <a:effectLst/>
                <a:uFillTx/>
                <a:latin typeface="Arial"/>
                <a:ea typeface="Arial"/>
                <a:hlinkClick r:id="rId1"/>
              </a:rPr>
              <a:t>https://www.data-to-viz.com/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50000"/>
              </a:lnSpc>
              <a:spcBef>
                <a:spcPts val="1417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 consistent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50000"/>
              </a:lnSpc>
              <a:spcBef>
                <a:spcPts val="1417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numbers for every slide (besides title slide)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22DDFD0-1DF1-4F6A-9B35-C12DB353A077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14904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Presentation: Key-Points - Content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80000" y="720000"/>
            <a:ext cx="8650080" cy="419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50000"/>
              </a:lnSpc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Keep it simple, less is more: Think about the message you really want to convey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50000"/>
              </a:lnSpc>
              <a:spcBef>
                <a:spcPts val="1417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Rule of Thumb: 1 Slide per Minute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50000"/>
              </a:lnSpc>
              <a:spcBef>
                <a:spcPts val="1417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Give credits (aka. Citing), also to people with whom you work(ed) together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50000"/>
              </a:lnSpc>
              <a:spcBef>
                <a:spcPts val="1417"/>
              </a:spcBef>
              <a:buClr>
                <a:srgbClr val="595959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Never oversell. Give a realistic (if need be: conservative) interpretation of your result. Grading and scientific approval does not correlate with the reported accuracy but with scientific soundness (which includes being generally skeptical, esp. about your own results)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A10B1D8-5078-457A-89FE-1B8CFA6B3F8F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Presentation: Things That Should Never go Wrong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320" cy="370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marL="457200" indent="-343080">
              <a:lnSpc>
                <a:spcPct val="115000"/>
              </a:lnSpc>
              <a:spcBef>
                <a:spcPts val="1134"/>
              </a:spcBef>
              <a:spcAft>
                <a:spcPts val="283"/>
              </a:spcAft>
              <a:buClr>
                <a:srgbClr val="666666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Spell checking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1134"/>
              </a:spcBef>
              <a:spcAft>
                <a:spcPts val="283"/>
              </a:spcAft>
              <a:buClr>
                <a:srgbClr val="666666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numbers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1134"/>
              </a:spcBef>
              <a:spcAft>
                <a:spcPts val="283"/>
              </a:spcAft>
              <a:buClr>
                <a:srgbClr val="666666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Title, date, name and photo of each team member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1134"/>
              </a:spcBef>
              <a:spcAft>
                <a:spcPts val="283"/>
              </a:spcAft>
              <a:buClr>
                <a:srgbClr val="666666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Cite your sources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1134"/>
              </a:spcBef>
              <a:spcAft>
                <a:spcPts val="283"/>
              </a:spcAft>
              <a:buClr>
                <a:srgbClr val="666666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Error estimates on </a:t>
            </a:r>
            <a:r>
              <a:rPr b="1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all</a:t>
            </a: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performances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1134"/>
              </a:spcBef>
              <a:spcAft>
                <a:spcPts val="283"/>
              </a:spcAft>
              <a:buClr>
                <a:srgbClr val="666666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Legends, large enough figures/text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1134"/>
              </a:spcBef>
              <a:spcAft>
                <a:spcPts val="283"/>
              </a:spcAft>
              <a:buClr>
                <a:srgbClr val="666666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Stay in the given timeframe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indent="-343080">
              <a:lnSpc>
                <a:spcPct val="115000"/>
              </a:lnSpc>
              <a:spcBef>
                <a:spcPts val="1134"/>
              </a:spcBef>
              <a:spcAft>
                <a:spcPts val="283"/>
              </a:spcAft>
              <a:buClr>
                <a:srgbClr val="666666"/>
              </a:buClr>
              <a:buFont typeface="Arial"/>
              <a:buChar char="●"/>
            </a:pPr>
            <a:r>
              <a:rPr b="0" lang="e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Know your main message and audience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ECB8EEA-EC34-4210-8DF5-F3EE7FA51BA4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Citing correctly: Reference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8320" cy="237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</a:pP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Each reference names:</a:t>
            </a:r>
          </a:p>
          <a:p>
            <a:pPr marL="457200" indent="-343080">
              <a:lnSpc>
                <a:spcPct val="115000"/>
              </a:lnSpc>
              <a:spcBef>
                <a:spcPts val="1134"/>
              </a:spcBef>
              <a:spcAft>
                <a:spcPts val="283"/>
              </a:spcAft>
              <a:buClr>
                <a:srgbClr val="666666"/>
              </a:buClr>
              <a:buFont typeface="Arial"/>
              <a:buChar char="●"/>
            </a:pPr>
            <a:r>
              <a:rPr b="1" i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First author:</a:t>
            </a:r>
            <a:r>
              <a:rPr b="0" i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 xml:space="preserve"> the person who did the work</a:t>
            </a:r>
          </a:p>
          <a:p>
            <a:pPr marL="457200" indent="-343080">
              <a:lnSpc>
                <a:spcPct val="115000"/>
              </a:lnSpc>
              <a:spcBef>
                <a:spcPts val="1134"/>
              </a:spcBef>
              <a:spcAft>
                <a:spcPts val="283"/>
              </a:spcAft>
              <a:buClr>
                <a:srgbClr val="666666"/>
              </a:buClr>
              <a:buFont typeface="Arial"/>
              <a:buChar char="●"/>
            </a:pPr>
            <a:r>
              <a:rPr b="1" i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Last author:</a:t>
            </a:r>
            <a:r>
              <a:rPr b="0" i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 xml:space="preserve"> the lab (group leader)</a:t>
            </a:r>
          </a:p>
          <a:p>
            <a:pPr marL="457200" indent="-343080">
              <a:lnSpc>
                <a:spcPct val="115000"/>
              </a:lnSpc>
              <a:spcBef>
                <a:spcPts val="1134"/>
              </a:spcBef>
              <a:spcAft>
                <a:spcPts val="283"/>
              </a:spcAft>
              <a:buClr>
                <a:srgbClr val="666666"/>
              </a:buClr>
              <a:buFont typeface="Arial"/>
              <a:buChar char="●"/>
            </a:pPr>
            <a:r>
              <a:rPr b="1" i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Title:</a:t>
            </a:r>
            <a:r>
              <a:rPr b="0" i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 xml:space="preserve"> may be shortened or modified to save space</a:t>
            </a:r>
          </a:p>
          <a:p>
            <a:pPr marL="457200" indent="-343080">
              <a:lnSpc>
                <a:spcPct val="115000"/>
              </a:lnSpc>
              <a:spcBef>
                <a:spcPts val="1134"/>
              </a:spcBef>
              <a:spcAft>
                <a:spcPts val="283"/>
              </a:spcAft>
              <a:buClr>
                <a:srgbClr val="666666"/>
              </a:buClr>
              <a:buFont typeface="Arial"/>
              <a:buChar char="●"/>
            </a:pPr>
            <a:r>
              <a:rPr b="1" i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Journal</a:t>
            </a:r>
            <a:r>
              <a:rPr b="0" i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 xml:space="preserve"> (abbreviated) and </a:t>
            </a:r>
            <a:r>
              <a:rPr b="1" i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year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ECB8EEA-EC34-4210-8DF5-F3EE7FA51BA4}" type="slidenum">
              <a:t>5</a:t>
            </a:fld>
          </a:p>
        </p:txBody>
      </p:sp>
      <p:sp>
        <p:nvSpPr>
          <p:cNvPr id="40" name="Reference example"/>
          <p:cNvSpPr txBox="1"/>
          <p:nvPr/>
        </p:nvSpPr>
        <p:spPr>
          <a:xfrm>
            <a:off x="393192" y="3730752"/>
            <a:ext cx="8229600" cy="1005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82880" rIns="182880" tIns="109728" bIns="109728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b="1" i="0" lang="en-US" sz="1200" strike="noStrike" u="non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Format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b="0" i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 xml:space="preserve">[1] F. First Author … L. Last Author. Title. </a:t>
            </a:r>
            <a:r>
              <a:rPr b="0" i="1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Journal</a:t>
            </a:r>
            <a:r>
              <a:rPr b="0" i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 xml:space="preserve"> (Year).</a:t>
            </a:r>
          </a:p>
          <a:p>
            <a:pPr>
              <a:lnSpc>
                <a:spcPct val="100000"/>
              </a:lnSpc>
              <a:spcBef>
                <a:spcPts val="900"/>
              </a:spcBef>
              <a:buNone/>
            </a:pPr>
            <a:r>
              <a:rPr b="1" i="0" lang="en-US" sz="1200" strike="noStrike" u="non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Example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b="0" i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 xml:space="preserve">[1] M. Littmann … B. Rost. Embeddings transfer GO annotations beyond homology. </a:t>
            </a:r>
            <a:r>
              <a:rPr b="0" i="1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Sci Rep</a:t>
            </a:r>
            <a:r>
              <a:rPr b="0" i="0" lang="en-US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 xml:space="preserve"> (2021).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Application>Collabora_Office/25.04.2.2$Linux_X86_64 LibreOffice_project/b678ed74695d64e638db9eb734e86703ad84516d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de-DE</dc:language>
  <cp:lastModifiedBy/>
  <cp:lastPrinted>2024-11-04T10:14:39Z</cp:lastPrinted>
  <dcterms:modified xsi:type="dcterms:W3CDTF">2025-02-04T10:36:44Z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