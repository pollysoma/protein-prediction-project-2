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3" r:id="rId4"/>
  </p:sldMasterIdLst>
  <p:sldIdLst>
    <p:sldId id="256" r:id="rId5"/>
    <p:sldId id="257" r:id="rId8"/>
    <p:sldId id="258" r:id="rId9"/>
    <p:sldId id="259" r:id="rId7"/>
    <p:sldId id="260" r:id="rId11"/>
    <p:sldId id="261" r:id="rId6"/>
    <p:sldId id="262" r:id="rId13"/>
    <p:sldId id="263" r:id="rId14"/>
    <p:sldId id="264" r:id="rId15"/>
    <p:sldId id="265" r:id="rId16"/>
    <p:sldId id="266" r:id="rId17"/>
    <p:sldId id="267" r:id="rId18"/>
  </p:sldIdLst>
  <p:sldSz cx="9144000" cy="51435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4.xml"/><Relationship Id="rId5" Type="http://schemas.openxmlformats.org/officeDocument/2006/relationships/slide" Target="slides/slide1.xml"/><Relationship Id="rId6" Type="http://schemas.openxmlformats.org/officeDocument/2006/relationships/slide" Target="slides/slide6.xml"/><Relationship Id="rId7" Type="http://schemas.openxmlformats.org/officeDocument/2006/relationships/slide" Target="slides/slide4.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presProps" Target="presProps.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0" i="0">
                <a:solidFill>
                  <a:srgbClr val="595959"/>
                </a:solidFill>
                <a:latin typeface="Arial"/>
              </a:rPr>
              <a:t>CATH superfamily accuracy, test219 (%)</a:t>
            </a:r>
          </a:p>
        </c:rich>
      </c:tx>
      <c:layout/>
      <c:overlay val="0"/>
    </c:title>
    <c:autoTitleDeleted val="0"/>
    <c:plotArea>
      <c:barChart>
        <c:barDir val="bar"/>
        <c:grouping val="clustered"/>
        <c:ser>
          <c:idx val="0"/>
          <c:order val="0"/>
          <c:tx>
            <c:strRef>
              <c:f>Sheet1!$B$1</c:f>
              <c:strCache>
                <c:ptCount val="1"/>
                <c:pt idx="0">
                  <c:v>Accuracy (%)</c:v>
                </c:pt>
              </c:strCache>
            </c:strRef>
          </c:tx>
          <c:dPt>
            <c:idx val="0"/>
            <c:spPr>
              <a:solidFill>
                <a:srgbClr val="595959"/>
              </a:solidFill>
            </c:spPr>
          </c:dPt>
          <c:dPt>
            <c:idx val="1"/>
            <c:spPr>
              <a:solidFill>
                <a:srgbClr val="0065BD"/>
              </a:solidFill>
            </c:spPr>
          </c:dPt>
          <c:dPt>
            <c:idx val="2"/>
            <c:spPr>
              <a:solidFill>
                <a:srgbClr val="E37222"/>
              </a:solidFill>
            </c:spPr>
          </c:dPt>
          <c:cat>
            <c:strRef>
              <c:f>Sheet1!$A$2:$A$4</c:f>
              <c:strCache>
                <c:ptCount val="3"/>
                <c:pt idx="0">
                  <c:v>MMseqs2 [3]</c:v>
                </c:pt>
                <c:pt idx="1">
                  <c:v>Raw ProtT5 [3]</c:v>
                </c:pt>
                <c:pt idx="2">
                  <c:v>Raw ProtT5 [4]</c:v>
                </c:pt>
              </c:strCache>
            </c:strRef>
          </c:cat>
          <c:val>
            <c:numRef>
              <c:f>Sheet1!$B$2:$B$4</c:f>
              <c:numCache>
                <c:formatCode>General</c:formatCode>
                <c:ptCount val="3"/>
                <c:pt idx="0">
                  <c:v>35</c:v>
                </c:pt>
                <c:pt idx="1">
                  <c:v>64</c:v>
                </c:pt>
                <c:pt idx="2">
                  <c:v>73</c:v>
                </c:pt>
              </c:numCache>
            </c:numRef>
          </c:val>
        </c:ser>
        <c:dLbls>
          <c:txPr>
            <a:bodyPr/>
            <a:lstStyle/>
            <a:p>
              <a:pPr>
                <a:defRPr sz="14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txPr>
          <a:bodyPr/>
          <a:lstStyle/>
          <a:p>
            <a:pPr>
              <a:defRPr sz="1300"/>
            </a:pPr>
          </a:p>
        </c:txPr>
        <c:crossAx val="-2113994440"/>
        <c:crosses val="autoZero"/>
        <c:auto val="1"/>
        <c:lblAlgn val="ctr"/>
        <c:lblOffset val="100"/>
        <c:noMultiLvlLbl val="0"/>
      </c:catAx>
      <c:valAx>
        <c:axId val="-2113994440"/>
        <c:scaling>
          <c:max val="100.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us says their name. One sentence on the topic: we build a fair benchmark for embedding-based annotation transfer (EAT) across current protein language models.</a:t>
            </a:r>
          </a:p>
          <a:p>
            <a:r>
              <a:t>TODO before Monday: photos, e-mails, 4th name.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UniProtKB holds about 150 million sequences. Only 48,401 entries have an experimentally supported catalytic activity, all of them in Swiss-Prot. Everything else is annotated by transfer: copy the label of a similar, characterised protein. The classic route is sequence similarity (BLAST, MMseqs2), and it breaks down in the twilight zone below about 30% identity.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frozen protein language model turns each residue into a vector. We average them into one vector per protein. A query then takes the label of its nearest labelled neighbour in the lookup set. Nothing is trained. goPredSim turned the Euclidean distance d into a reliability index RI = 0.5/(0.5+d). For GO terms this beat BLAST [2]. On CATH remote homologues, raw ProtT5 reached 64% at superfamily level vs 35% for MMseqs2 (profile HMMs 77%) [3].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Papers on new pLMs report raw EAT as a baseline, but each sets it up differently: pLM, pooling, distance, number of neighbours, lookup set. Same model, same CATH test219 and lookup sets: 64% in the ProtTucker paper and 73% in the Ankh paper. The pLM matters a lot too: on a strict CATH benchmark, ProstT5 instead of ProtT5 moves superfamily accuracy from 69.6 to 78.5%. The RI cutoffs were set for SeqVec, and distances of different pLMs live on different scales. HFSP gives a safe-transfer curve for sequence alignments; nothing like it exists for embeddings.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RQ1 is about ranking: which pLM and which distance work best for structure and function, and where does EAT beat plain sequence similarity? RQ2 is about trust: up to which distance can we transfer safely, e.g. at 95% precision, and can we turn distance into a score that means the same for every pLM? 'Raw' is strict: frozen pLM, mean of last-layer residues, nearest neighbour, nothing trained on top. Labels may tune settings on a calibration set, never on the test set.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minimum result covers eleven pLMs from four families, with embedding sizes from 320 to 2560. ESM-2 is a natural size ladder from 8M to 3B parameters. For each pLM we test Euclidean and cosine distance on CATH (four levels C/A/T/H) and EC (four levels), always against transfer from the best MMseqs2 hit.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CATH: we start with the ProtTucker benchmark (219 test domains vs a lookup of 69k) and the EAT code, then move to the larger non-redundant CATH v4.4 sets. Pitfall: the precomputed CATH-S100 lookup contains all test219 domains, so never use it as lookup for them. EC has no ready split: either the 48,401 UniProt entries with experimental catalytic activity, or the 7,022-enzyme HFSP set, which lets us compare directly with HFSP. Embeddings: ProtSpace notebook for all pLMs except ESM-2 3B (Hugging Face transformers). One tool per pLM. Not the Biocentral API for ESM C (wrong embeddings). The EC lookup set is the compute bottleneck.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split into lookup, calibration and test. Lookup holds the labelled proteins we transfer from. On the calibration set we choose settings, find the distance where precision drops below the target (e.g. 95%), and fit a calibrated reliability score, e.g. with isotonic regression. The test set is touched once: accuracy with bootstrap confidence intervals, binned by sequence identity, and a check that thresholds and scores hold up.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23.11 we reproduce raw ProtT5 on test219. The published target is 84/67/57/64% at C/A/T/H; if we miss it, we find out why. In parallel we set up the embedding pipeline, time a small batch per pLM, and run the MMseqs2 baseline. By 14.12 we agree splits and protocol with you and freeze them, build the EC set and run all pLMs on CATH. In January: EC, thresholds and the reliability score. By the exam: documented code, frozen splits and data on Zenodo. This is a proposal; dates follow the tri-weekly presentations.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come from the project description, each with our first idea. Splits: control how similar queries are to the lookup set, and report results per identity bin. EC labels: evidence is given per reaction, so keep only EC numbers whose reaction is experimentally supported. Model size: is ESM-2 3B better because it knows more or because it has more dimensions? Compare at matched dimension, e.g. after PCA. Distances: on length-normalised vectors, Euclidean and cosine rank neighbours identically, so differences come from vector norms. To compare pLMs, use calibrated precision instead of raw distance. Plus multi-domain proteins and enzymes with several or incomplete EC numbers.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Since the kickoff on 28.10 we have read the project material and the key papers, set up the GitHub repository with issue tracking and meeting protocols, and drafted this plan. No results yet. The main expected roadblock is compute: the EC lookup set and ESM-2 3B. Questions for the supervisors: GPU access, the EC source (UniProt or HFSP), and when to freeze splits.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do not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p:spTree>
      <p:nvGrpSpPr>
        <p:cNvPr id="1" name=""/>
        <p:cNvGrpSpPr/>
        <p:nvPr/>
      </p:nvGrpSpPr>
      <p:grpSpPr>
        <a:xfrm>
          <a:off x="0" y="0"/>
          <a:ext cx="0" cy="0"/>
          <a:chOff x="0" y="0"/>
          <a:chExt cx="0" cy="0"/>
        </a:xfrm>
      </p:grpSpPr>
      <p:sp>
        <p:nvSpPr>
          <p:cNvPr id="5" name="PlaceHolder 1"/>
          <p:cNvSpPr>
            <a:spLocks noGrp="1"/>
          </p:cNvSpPr>
          <p:nvPr>
            <p:ph type="title"/>
          </p:nvPr>
        </p:nvSpPr>
        <p:spPr>
          <a:xfrm>
            <a:off x="311760" y="418320"/>
            <a:ext cx="8518320" cy="62496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Calibri"/>
            </a:endParaRPr>
          </a:p>
        </p:txBody>
      </p:sp>
      <p:sp>
        <p:nvSpPr>
          <p:cNvPr id="6" name="PlaceHolder 2"/>
          <p:cNvSpPr>
            <a:spLocks noGrp="1"/>
          </p:cNvSpPr>
          <p:nvPr>
            <p:ph/>
          </p:nvPr>
        </p:nvSpPr>
        <p:spPr>
          <a:xfrm>
            <a:off x="311760" y="1152360"/>
            <a:ext cx="8518320" cy="341424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Calibri"/>
            </a:endParaRPr>
          </a:p>
        </p:txBody>
      </p:sp>
      <p:sp>
        <p:nvSpPr>
          <p:cNvPr id="4" name="PlaceHolder 3"/>
          <p:cNvSpPr>
            <a:spLocks noGrp="1"/>
          </p:cNvSpPr>
          <p:nvPr>
            <p:ph type="sldNum" idx="1"/>
          </p:nvPr>
        </p:nvSpPr>
        <p:spPr/>
        <p:txBody>
          <a:bodyPr/>
          <a:p>
            <a:fld id="{71FF70E3-F46E-46DB-B1B4-B2FA602DCB0A}"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311760" y="418320"/>
            <a:ext cx="8518320" cy="62496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Calibri"/>
              </a:rPr>
              <a:t>Click to edit the title text format</a:t>
            </a:r>
            <a:endParaRPr b="0" lang="en-US" sz="1800" strike="noStrike" u="none">
              <a:solidFill>
                <a:srgbClr val="000000"/>
              </a:solidFill>
              <a:effectLst/>
              <a:uFillTx/>
              <a:latin typeface="Calibri"/>
            </a:endParaRPr>
          </a:p>
        </p:txBody>
      </p:sp>
      <p:sp>
        <p:nvSpPr>
          <p:cNvPr id="8" name="PlaceHolder 2"/>
          <p:cNvSpPr>
            <a:spLocks noGrp="1"/>
          </p:cNvSpPr>
          <p:nvPr>
            <p:ph type="body"/>
          </p:nvPr>
        </p:nvSpPr>
        <p:spPr>
          <a:xfrm>
            <a:off x="311760" y="1152360"/>
            <a:ext cx="8518320" cy="3414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Calibri"/>
              </a:rPr>
              <a:t>Click to edit the outline text format</a:t>
            </a:r>
            <a:endParaRPr b="0" lang="en-US" sz="1800" strike="noStrike" u="none">
              <a:solidFill>
                <a:srgbClr val="000000"/>
              </a:solidFill>
              <a:effectLst/>
              <a:uFillTx/>
              <a:latin typeface="Calibri"/>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Calibri"/>
              </a:rPr>
              <a:t>Second Outline Level</a:t>
            </a:r>
            <a:endParaRPr b="0" lang="en-US" sz="1800" strike="noStrike" u="none">
              <a:solidFill>
                <a:srgbClr val="000000"/>
              </a:solidFill>
              <a:effectLst/>
              <a:uFillTx/>
              <a:latin typeface="Calibri"/>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Calibri"/>
              </a:rPr>
              <a:t>Third Outline Level</a:t>
            </a:r>
            <a:endParaRPr b="0" lang="en-US" sz="1800" strike="noStrike" u="none">
              <a:solidFill>
                <a:srgbClr val="000000"/>
              </a:solidFill>
              <a:effectLst/>
              <a:uFillTx/>
              <a:latin typeface="Calibri"/>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Calibri"/>
              </a:rPr>
              <a:t>Fourth Outline Level</a:t>
            </a:r>
            <a:endParaRPr b="0" lang="en-US" sz="1800" strike="noStrike" u="none">
              <a:solidFill>
                <a:srgbClr val="000000"/>
              </a:solidFill>
              <a:effectLst/>
              <a:uFillTx/>
              <a:latin typeface="Calibri"/>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Calibri"/>
              </a:rPr>
              <a:t>Fifth Outline Level</a:t>
            </a:r>
            <a:endParaRPr b="0" lang="en-US" sz="1800" strike="noStrike" u="none">
              <a:solidFill>
                <a:srgbClr val="000000"/>
              </a:solidFill>
              <a:effectLst/>
              <a:uFillTx/>
              <a:latin typeface="Calibri"/>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Calibri"/>
              </a:rPr>
              <a:t>Sixth Outline Level</a:t>
            </a:r>
            <a:endParaRPr b="0" lang="en-US" sz="1800" strike="noStrike" u="none">
              <a:solidFill>
                <a:srgbClr val="000000"/>
              </a:solidFill>
              <a:effectLst/>
              <a:uFillTx/>
              <a:latin typeface="Calibri"/>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Calibri"/>
              </a:rPr>
              <a:t>Seventh Outline Level</a:t>
            </a:r>
            <a:endParaRPr b="0" lang="en-US" sz="1800" strike="noStrike" u="none">
              <a:solidFill>
                <a:srgbClr val="000000"/>
              </a:solidFill>
              <a:effectLst/>
              <a:uFillTx/>
              <a:latin typeface="Calibri"/>
            </a:endParaRPr>
          </a:p>
        </p:txBody>
      </p:sp>
      <p:sp>
        <p:nvSpPr>
          <p:cNvPr id="9" name="PlaceHolder 3"/>
          <p:cNvSpPr>
            <a:spLocks noGrp="1"/>
          </p:cNvSpPr>
          <p:nvPr>
            <p:ph type="sldNum" idx="2"/>
          </p:nvPr>
        </p:nvSpPr>
        <p:spPr>
          <a:xfrm>
            <a:off x="7740000" y="4320000"/>
            <a:ext cx="1279080" cy="7344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800" strike="noStrike" u="none">
                <a:solidFill>
                  <a:schemeClr val="dk2"/>
                </a:solidFill>
                <a:effectLst/>
                <a:uFillTx/>
                <a:latin typeface="Arial"/>
                <a:ea typeface="Arial"/>
              </a:defRPr>
            </a:lvl1pPr>
          </a:lstStyle>
          <a:p>
            <a:pPr indent="0" algn="r">
              <a:lnSpc>
                <a:spcPct val="100000"/>
              </a:lnSpc>
              <a:buNone/>
              <a:tabLst>
                <a:tab algn="l" pos="0"/>
              </a:tabLst>
            </a:pPr>
            <a:fld id="{03DC0A19-A797-47B4-9DA0-3AD3361817BC}" type="slidenum">
              <a:rPr b="0" lang="en" sz="1800" strike="noStrike" u="none">
                <a:solidFill>
                  <a:schemeClr val="dk2"/>
                </a:solidFill>
                <a:effectLst/>
                <a:uFillTx/>
                <a:latin typeface="Arial"/>
                <a:ea typeface="Arial"/>
              </a:rPr>
              <a:t>&lt;number&gt;</a:t>
            </a:fld>
            <a:endParaRPr b="0" lang="en-US" sz="1800" strike="noStrike" u="none">
              <a:solidFill>
                <a:srgbClr val="000000"/>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bg>
      <p:bgPr>
        <a:solidFill>
          <a:schemeClr val="lt1"/>
        </a:solidFill>
      </p:bgPr>
    </p:bg>
    <p:spTree>
      <p:nvGrpSpPr>
        <p:cNvPr id="1" name=""/>
        <p:cNvGrpSpPr/>
        <p:nvPr/>
      </p:nvGrpSpPr>
      <p:grpSpPr>
        <a:xfrm>
          <a:off x="0" y="0"/>
          <a:ext cx="0" cy="0"/>
          <a:chOff x="0" y="0"/>
          <a:chExt cx="0" cy="0"/>
        </a:xfrm>
      </p:grpSpPr>
      <p:sp>
        <p:nvSpPr>
          <p:cNvPr id="10" name="PlaceHolder 1"/>
          <p:cNvSpPr>
            <a:spLocks noGrp="1"/>
          </p:cNvSpPr>
          <p:nvPr>
            <p:ph type="sldNum" idx="3"/>
          </p:nvPr>
        </p:nvSpPr>
        <p:spPr>
          <a:xfrm>
            <a:off x="7740000" y="4320000"/>
            <a:ext cx="1279080" cy="7344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800" strike="noStrike" u="none">
                <a:solidFill>
                  <a:schemeClr val="dk2"/>
                </a:solidFill>
                <a:effectLst/>
                <a:uFillTx/>
                <a:latin typeface="Arial"/>
                <a:ea typeface="Arial"/>
              </a:defRPr>
            </a:lvl1pPr>
          </a:lstStyle>
          <a:p>
            <a:pPr indent="0" algn="r">
              <a:lnSpc>
                <a:spcPct val="100000"/>
              </a:lnSpc>
              <a:buNone/>
              <a:tabLst>
                <a:tab algn="l" pos="0"/>
              </a:tabLst>
            </a:pPr>
            <a:fld id="{E82015B5-2F08-4B3D-A29C-C8DF0792E61F}" type="slidenum">
              <a:rPr b="0" lang="en" sz="1800" strike="noStrike" u="none">
                <a:solidFill>
                  <a:schemeClr val="dk2"/>
                </a:solidFill>
                <a:effectLst/>
                <a:uFillTx/>
                <a:latin typeface="Arial"/>
                <a:ea typeface="Arial"/>
              </a:rPr>
              <a:t>&lt;number&gt;</a:t>
            </a:fld>
            <a:endParaRPr b="0" lang="en-US" sz="1800" strike="noStrike" u="none">
              <a:solidFill>
                <a:srgbClr val="000000"/>
              </a:solidFill>
              <a:effectLst/>
              <a:uFillTx/>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14" name="PlaceHolder 1"/>
          <p:cNvSpPr>
            <a:spLocks noGrp="1"/>
          </p:cNvSpPr>
          <p:nvPr>
            <p:ph type="title"/>
          </p:nvPr>
        </p:nvSpPr>
        <p:spPr>
          <a:xfrm>
            <a:off x="311760" y="418320"/>
            <a:ext cx="8518320" cy="62496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Calibri"/>
            </a:endParaRPr>
          </a:p>
        </p:txBody>
      </p:sp>
      <p:sp>
        <p:nvSpPr>
          <p:cNvPr id="15" name="PlaceHolder 2"/>
          <p:cNvSpPr>
            <a:spLocks noGrp="1"/>
          </p:cNvSpPr>
          <p:nvPr>
            <p:ph/>
          </p:nvPr>
        </p:nvSpPr>
        <p:spPr>
          <a:xfrm>
            <a:off x="311760" y="1152360"/>
            <a:ext cx="8518320" cy="341424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Calibri"/>
            </a:endParaRPr>
          </a:p>
        </p:txBody>
      </p:sp>
      <p:sp>
        <p:nvSpPr>
          <p:cNvPr id="4" name="PlaceHolder 3"/>
          <p:cNvSpPr>
            <a:spLocks noGrp="1"/>
          </p:cNvSpPr>
          <p:nvPr>
            <p:ph type="sldNum" idx="4"/>
          </p:nvPr>
        </p:nvSpPr>
        <p:spPr/>
        <p:txBody>
          <a:bodyPr/>
          <a:p>
            <a:fld id="{CA0B8FDE-6103-4AAD-AFD1-8CB8973E6B9F}" type="slidenum">
              <a:t>&lt;#&gt;</a:t>
            </a:fld>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4.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311760" y="418320"/>
            <a:ext cx="8518320" cy="62496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Calibri"/>
              </a:rPr>
              <a:t>Click to edit the title text format</a:t>
            </a:r>
            <a:endParaRPr b="0" lang="en-US" sz="1800" strike="noStrike" u="none">
              <a:solidFill>
                <a:srgbClr val="000000"/>
              </a:solidFill>
              <a:effectLst/>
              <a:uFillTx/>
              <a:latin typeface="Calibri"/>
            </a:endParaRPr>
          </a:p>
        </p:txBody>
      </p:sp>
      <p:sp>
        <p:nvSpPr>
          <p:cNvPr id="3" name="PlaceHolder 2"/>
          <p:cNvSpPr>
            <a:spLocks noGrp="1"/>
          </p:cNvSpPr>
          <p:nvPr>
            <p:ph type="body"/>
          </p:nvPr>
        </p:nvSpPr>
        <p:spPr>
          <a:xfrm>
            <a:off x="311760" y="1152360"/>
            <a:ext cx="8518320" cy="3414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Calibri"/>
              </a:rPr>
              <a:t>Click to edit the outline text format</a:t>
            </a:r>
            <a:endParaRPr b="0" lang="en-US" sz="1800" strike="noStrike" u="none">
              <a:solidFill>
                <a:srgbClr val="000000"/>
              </a:solidFill>
              <a:effectLst/>
              <a:uFillTx/>
              <a:latin typeface="Calibri"/>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Calibri"/>
              </a:rPr>
              <a:t>Second Outline Level</a:t>
            </a:r>
            <a:endParaRPr b="0" lang="en-US" sz="1800" strike="noStrike" u="none">
              <a:solidFill>
                <a:srgbClr val="000000"/>
              </a:solidFill>
              <a:effectLst/>
              <a:uFillTx/>
              <a:latin typeface="Calibri"/>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Calibri"/>
              </a:rPr>
              <a:t>Third Outline Level</a:t>
            </a:r>
            <a:endParaRPr b="0" lang="en-US" sz="1800" strike="noStrike" u="none">
              <a:solidFill>
                <a:srgbClr val="000000"/>
              </a:solidFill>
              <a:effectLst/>
              <a:uFillTx/>
              <a:latin typeface="Calibri"/>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Calibri"/>
              </a:rPr>
              <a:t>Fourth Outline Level</a:t>
            </a:r>
            <a:endParaRPr b="0" lang="en-US" sz="1800" strike="noStrike" u="none">
              <a:solidFill>
                <a:srgbClr val="000000"/>
              </a:solidFill>
              <a:effectLst/>
              <a:uFillTx/>
              <a:latin typeface="Calibri"/>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Calibri"/>
              </a:rPr>
              <a:t>Fifth Outline Level</a:t>
            </a:r>
            <a:endParaRPr b="0" lang="en-US" sz="1800" strike="noStrike" u="none">
              <a:solidFill>
                <a:srgbClr val="000000"/>
              </a:solidFill>
              <a:effectLst/>
              <a:uFillTx/>
              <a:latin typeface="Calibri"/>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Calibri"/>
              </a:rPr>
              <a:t>Sixth Outline Level</a:t>
            </a:r>
            <a:endParaRPr b="0" lang="en-US" sz="1800" strike="noStrike" u="none">
              <a:solidFill>
                <a:srgbClr val="000000"/>
              </a:solidFill>
              <a:effectLst/>
              <a:uFillTx/>
              <a:latin typeface="Calibri"/>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Calibri"/>
              </a:rPr>
              <a:t>Seventh Outline Level</a:t>
            </a:r>
            <a:endParaRPr b="0" lang="en-US" sz="1800" strike="noStrike" u="none">
              <a:solidFill>
                <a:srgbClr val="000000"/>
              </a:solidFill>
              <a:effectLst/>
              <a:uFillTx/>
              <a:latin typeface="Calibri"/>
            </a:endParaRPr>
          </a:p>
        </p:txBody>
      </p:sp>
      <p:sp>
        <p:nvSpPr>
          <p:cNvPr id="4" name="PlaceHolder 3"/>
          <p:cNvSpPr>
            <a:spLocks noGrp="1"/>
          </p:cNvSpPr>
          <p:nvPr>
            <p:ph type="sldNum" idx="1"/>
          </p:nvPr>
        </p:nvSpPr>
        <p:spPr>
          <a:xfrm>
            <a:off x="7740000" y="4320000"/>
            <a:ext cx="1279080" cy="7344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800" strike="noStrike" u="none">
                <a:solidFill>
                  <a:schemeClr val="dk2"/>
                </a:solidFill>
                <a:effectLst/>
                <a:uFillTx/>
                <a:latin typeface="Arial"/>
                <a:ea typeface="Arial"/>
              </a:defRPr>
            </a:lvl1pPr>
          </a:lstStyle>
          <a:p>
            <a:pPr indent="0" algn="r">
              <a:lnSpc>
                <a:spcPct val="100000"/>
              </a:lnSpc>
              <a:buNone/>
              <a:tabLst>
                <a:tab algn="l" pos="0"/>
              </a:tabLst>
            </a:pPr>
            <a:fld id="{90F564EE-DD76-48C4-A2F1-FAFD436389C8}" type="slidenum">
              <a:rPr b="0" lang="en" sz="1800" strike="noStrike" u="none">
                <a:solidFill>
                  <a:schemeClr val="dk2"/>
                </a:solidFill>
                <a:effectLst/>
                <a:uFillTx/>
                <a:latin typeface="Arial"/>
                <a:ea typeface="Arial"/>
              </a:rPr>
              <a:t>&lt;number&gt;</a:t>
            </a:fld>
            <a:endParaRPr b="0" lang="en-US" sz="1800" strike="noStrike" u="none">
              <a:solidFill>
                <a:srgbClr val="000000"/>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311760" y="418320"/>
            <a:ext cx="8518320" cy="62496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Calibri"/>
              </a:rPr>
              <a:t>Click to edit the title text format</a:t>
            </a:r>
            <a:endParaRPr b="0" lang="en-US" sz="1800" strike="noStrike" u="none">
              <a:solidFill>
                <a:srgbClr val="000000"/>
              </a:solidFill>
              <a:effectLst/>
              <a:uFillTx/>
              <a:latin typeface="Calibri"/>
            </a:endParaRPr>
          </a:p>
        </p:txBody>
      </p:sp>
      <p:sp>
        <p:nvSpPr>
          <p:cNvPr id="12" name="PlaceHolder 2"/>
          <p:cNvSpPr>
            <a:spLocks noGrp="1"/>
          </p:cNvSpPr>
          <p:nvPr>
            <p:ph type="body"/>
          </p:nvPr>
        </p:nvSpPr>
        <p:spPr>
          <a:xfrm>
            <a:off x="311760" y="1152360"/>
            <a:ext cx="8518320" cy="3414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Calibri"/>
              </a:rPr>
              <a:t>Click to edit the outline text format</a:t>
            </a:r>
            <a:endParaRPr b="0" lang="en-US" sz="1800" strike="noStrike" u="none">
              <a:solidFill>
                <a:srgbClr val="000000"/>
              </a:solidFill>
              <a:effectLst/>
              <a:uFillTx/>
              <a:latin typeface="Calibri"/>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Calibri"/>
              </a:rPr>
              <a:t>Second Outline Level</a:t>
            </a:r>
            <a:endParaRPr b="0" lang="en-US" sz="1800" strike="noStrike" u="none">
              <a:solidFill>
                <a:srgbClr val="000000"/>
              </a:solidFill>
              <a:effectLst/>
              <a:uFillTx/>
              <a:latin typeface="Calibri"/>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Calibri"/>
              </a:rPr>
              <a:t>Third Outline Level</a:t>
            </a:r>
            <a:endParaRPr b="0" lang="en-US" sz="1800" strike="noStrike" u="none">
              <a:solidFill>
                <a:srgbClr val="000000"/>
              </a:solidFill>
              <a:effectLst/>
              <a:uFillTx/>
              <a:latin typeface="Calibri"/>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Calibri"/>
              </a:rPr>
              <a:t>Fourth Outline Level</a:t>
            </a:r>
            <a:endParaRPr b="0" lang="en-US" sz="1800" strike="noStrike" u="none">
              <a:solidFill>
                <a:srgbClr val="000000"/>
              </a:solidFill>
              <a:effectLst/>
              <a:uFillTx/>
              <a:latin typeface="Calibri"/>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Calibri"/>
              </a:rPr>
              <a:t>Fifth Outline Level</a:t>
            </a:r>
            <a:endParaRPr b="0" lang="en-US" sz="1800" strike="noStrike" u="none">
              <a:solidFill>
                <a:srgbClr val="000000"/>
              </a:solidFill>
              <a:effectLst/>
              <a:uFillTx/>
              <a:latin typeface="Calibri"/>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Calibri"/>
              </a:rPr>
              <a:t>Sixth Outline Level</a:t>
            </a:r>
            <a:endParaRPr b="0" lang="en-US" sz="1800" strike="noStrike" u="none">
              <a:solidFill>
                <a:srgbClr val="000000"/>
              </a:solidFill>
              <a:effectLst/>
              <a:uFillTx/>
              <a:latin typeface="Calibri"/>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Calibri"/>
              </a:rPr>
              <a:t>Seventh Outline Level</a:t>
            </a:r>
            <a:endParaRPr b="0" lang="en-US" sz="1800" strike="noStrike" u="none">
              <a:solidFill>
                <a:srgbClr val="000000"/>
              </a:solidFill>
              <a:effectLst/>
              <a:uFillTx/>
              <a:latin typeface="Calibri"/>
            </a:endParaRPr>
          </a:p>
        </p:txBody>
      </p:sp>
      <p:sp>
        <p:nvSpPr>
          <p:cNvPr id="13" name="PlaceHolder 3"/>
          <p:cNvSpPr>
            <a:spLocks noGrp="1"/>
          </p:cNvSpPr>
          <p:nvPr>
            <p:ph type="sldNum" idx="4"/>
          </p:nvPr>
        </p:nvSpPr>
        <p:spPr>
          <a:xfrm>
            <a:off x="7740000" y="4320000"/>
            <a:ext cx="1279080" cy="7344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800" strike="noStrike" u="none">
                <a:solidFill>
                  <a:schemeClr val="dk2"/>
                </a:solidFill>
                <a:effectLst/>
                <a:uFillTx/>
                <a:latin typeface="Arial"/>
                <a:ea typeface="Arial"/>
              </a:defRPr>
            </a:lvl1pPr>
          </a:lstStyle>
          <a:p>
            <a:pPr indent="0" algn="r">
              <a:lnSpc>
                <a:spcPct val="100000"/>
              </a:lnSpc>
              <a:buNone/>
              <a:tabLst>
                <a:tab algn="l" pos="0"/>
              </a:tabLst>
            </a:pPr>
            <a:fld id="{BD85DCBB-7376-44D6-851D-B388BC57FEA6}" type="slidenum">
              <a:rPr b="0" lang="en" sz="1800" strike="noStrike" u="none">
                <a:solidFill>
                  <a:schemeClr val="dk2"/>
                </a:solidFill>
                <a:effectLst/>
                <a:uFillTx/>
                <a:latin typeface="Arial"/>
                <a:ea typeface="Arial"/>
              </a:rPr>
              <a:t>&lt;number&gt;</a:t>
            </a:fld>
            <a:endParaRPr b="0" lang="en-US" sz="1800" strike="noStrike" u="none">
              <a:solidFill>
                <a:srgbClr val="000000"/>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54" r:id="rId2"/>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5" Type="http://schemas.openxmlformats.org/officeDocument/2006/relationships/slideLayout" Target="../slideLayouts/slideLayout1.xml"/><Relationship Id="rId6" Type="http://schemas.openxmlformats.org/officeDocument/2006/relationships/notesSlide" Target="../notesSlides/notesSlide1.xml"/><Relationship Id="rId10"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PlaceHolder 1"/>
          <p:cNvSpPr>
            <a:spLocks noGrp="1"/>
          </p:cNvSpPr>
          <p:nvPr>
            <p:ph type="title"/>
          </p:nvPr>
        </p:nvSpPr>
        <p:spPr>
          <a:xfrm>
            <a:off x="365760" y="1298448"/>
            <a:ext cx="8519040" cy="1161288"/>
          </a:xfrm>
          <a:prstGeom prst="rect">
            <a:avLst/>
          </a:prstGeom>
          <a:noFill/>
          <a:ln w="0">
            <a:noFill/>
          </a:ln>
        </p:spPr>
        <p:txBody>
          <a:bodyPr lIns="0" rIns="0" tIns="122040" bIns="122040" anchor="b">
            <a:normAutofit/>
          </a:bodyPr>
          <a:p>
            <a:pPr indent="0" algn="ctr" defTabSz="914400">
              <a:lnSpc>
                <a:spcPct val="100000"/>
              </a:lnSpc>
              <a:buNone/>
              <a:tabLst>
                <a:tab algn="l" pos="0"/>
              </a:tabLst>
            </a:pPr>
            <a:r>
              <a:rPr b="1" lang="en-US" sz="2400" strike="noStrike" u="none">
                <a:solidFill>
                  <a:schemeClr val="dk1"/>
                </a:solidFill>
                <a:effectLst/>
                <a:uFillTx/>
                <a:latin typeface="Arial"/>
                <a:ea typeface="Avenir"/>
              </a:rPr>
              <a:t>EAT: How Far Do Raw pLM Embeddings Carry Annotations?</a:t>
            </a:r>
            <a:br>
              <a:rPr sz="3840"/>
            </a:br>
            <a:r>
              <a:rPr b="0" lang="en-US" sz="2400" strike="noStrike" u="none">
                <a:solidFill>
                  <a:srgbClr val="000000"/>
                </a:solidFill>
                <a:effectLst/>
                <a:uFillTx/>
                <a:latin typeface="Arial"/>
                <a:ea typeface="Avenir"/>
              </a:rPr>
              <a:t>Project 4 · Protein Prediction II – 02.11.2026</a:t>
            </a:r>
            <a:endParaRPr b="0" lang="en-US" sz="2400" strike="noStrike" u="none">
              <a:solidFill>
                <a:srgbClr val="000000"/>
              </a:solidFill>
              <a:effectLst/>
              <a:uFillTx/>
              <a:latin typeface="Calibri"/>
            </a:endParaRPr>
          </a:p>
        </p:txBody>
      </p:sp>
      <p:pic>
        <p:nvPicPr>
          <p:cNvPr id="18" name="Google Shape;56;p 1" descr=""/>
          <p:cNvPicPr/>
          <p:nvPr/>
        </p:nvPicPr>
        <p:blipFill>
          <a:blip r:embed="rId1"/>
          <a:stretch/>
        </p:blipFill>
        <p:spPr>
          <a:xfrm>
            <a:off x="365760" y="136080"/>
            <a:ext cx="792360" cy="768960"/>
          </a:xfrm>
          <a:prstGeom prst="rect">
            <a:avLst/>
          </a:prstGeom>
          <a:noFill/>
          <a:ln w="0">
            <a:noFill/>
          </a:ln>
        </p:spPr>
      </p:pic>
      <p:pic>
        <p:nvPicPr>
          <p:cNvPr id="19" name="Google Shape;58;p 1" descr=""/>
          <p:cNvPicPr/>
          <p:nvPr/>
        </p:nvPicPr>
        <p:blipFill>
          <a:blip r:embed="rId2"/>
          <a:stretch/>
        </p:blipFill>
        <p:spPr>
          <a:xfrm>
            <a:off x="1260000" y="282960"/>
            <a:ext cx="928440" cy="475560"/>
          </a:xfrm>
          <a:prstGeom prst="rect">
            <a:avLst/>
          </a:prstGeom>
          <a:noFill/>
          <a:ln w="0">
            <a:noFill/>
          </a:ln>
        </p:spPr>
      </p:pic>
      <p:pic>
        <p:nvPicPr>
          <p:cNvPr id="20" name="Google Shape;60;p 1" descr=""/>
          <p:cNvPicPr/>
          <p:nvPr/>
        </p:nvPicPr>
        <p:blipFill>
          <a:blip r:embed="rId3"/>
          <a:stretch/>
        </p:blipFill>
        <p:spPr>
          <a:xfrm>
            <a:off x="7032960" y="282600"/>
            <a:ext cx="1799280" cy="477360"/>
          </a:xfrm>
          <a:prstGeom prst="rect">
            <a:avLst/>
          </a:prstGeom>
          <a:noFill/>
          <a:ln w="0">
            <a:noFill/>
          </a:ln>
        </p:spPr>
      </p:pic>
      <p:grpSp>
        <p:nvGrpSpPr>
          <p:cNvPr id="30" name="Team member 1"/>
          <p:cNvGrpSpPr/>
          <p:nvPr/>
        </p:nvGrpSpPr>
        <p:grpSpPr>
          <a:xfrm>
            <a:off x="777240" y="2715768"/>
            <a:ext cx="1828800" cy="1655064"/>
            <a:chOff x="777240" y="2715768"/>
            <a:chExt cx="1828800" cy="1655064"/>
          </a:xfrm>
        </p:grpSpPr>
        <p:pic>
          <p:nvPicPr>
            <p:cNvPr id="31" name="Photo 1" descr="Photo of team member 1: replace with your own photo (right-click, Change Picture / Replace image)"/>
            <p:cNvPicPr>
              <a:picLocks noChangeAspect="1"/>
            </p:cNvPicPr>
            <p:nvPr/>
          </p:nvPicPr>
          <p:blipFill>
            <a:blip r:embed="rId10"/>
            <a:stretch>
              <a:fillRect/>
            </a:stretch>
          </p:blipFill>
          <p:spPr>
            <a:xfrm>
              <a:off x="1143000" y="2715768"/>
              <a:ext cx="1097280" cy="1097280"/>
            </a:xfrm>
            <a:prstGeom prst="ellipse">
              <a:avLst/>
            </a:prstGeom>
          </p:spPr>
        </p:pic>
        <p:sp>
          <p:nvSpPr>
            <p:cNvPr id="32" name="Name 1"/>
            <p:cNvSpPr txBox="1"/>
            <p:nvPr/>
          </p:nvSpPr>
          <p:spPr>
            <a:xfrm>
              <a:off x="777240" y="3867912"/>
              <a:ext cx="1828800" cy="502920"/>
            </a:xfrm>
            <a:prstGeom prst="rect">
              <a:avLst/>
            </a:prstGeom>
            <a:noFill/>
          </p:spPr>
          <p:txBody>
            <a:bodyPr wrap="square" lIns="0" rIns="0" tIns="0" bIns="0" anchor="t">
              <a:noAutofit/>
            </a:bodyPr>
            <a:lstStyle/>
            <a:p>
              <a:pPr algn="ctr">
                <a:buNone/>
              </a:pPr>
              <a:r>
                <a:rPr lang="en-US" sz="1600" b="0" u="none" strike="noStrike">
                  <a:solidFill>
                    <a:srgbClr val="434343"/>
                  </a:solidFill>
                  <a:latin typeface="Arial"/>
                  <a:ea typeface="Avenir"/>
                </a:rPr>
                <a:t>Polina Yugantseva</a:t>
              </a:r>
            </a:p>
            <a:p>
              <a:pPr algn="ctr">
                <a:spcBef>
                  <a:spcPts val="200"/>
                </a:spcBef>
                <a:buNone/>
              </a:pPr>
              <a:r>
                <a:rPr lang="en-US" sz="1200" b="0" u="sng" strike="noStrike">
                  <a:solidFill>
                    <a:srgbClr val="467886"/>
                  </a:solidFill>
                  <a:latin typeface="Arial"/>
                  <a:ea typeface="Avenir"/>
                </a:rPr>
                <a:t>student.mail@tum.de</a:t>
              </a:r>
            </a:p>
          </p:txBody>
        </p:sp>
      </p:grpSp>
      <p:grpSp>
        <p:nvGrpSpPr>
          <p:cNvPr id="33" name="Team member 2"/>
          <p:cNvGrpSpPr/>
          <p:nvPr/>
        </p:nvGrpSpPr>
        <p:grpSpPr>
          <a:xfrm>
            <a:off x="2697480" y="2715768"/>
            <a:ext cx="1828800" cy="1655064"/>
            <a:chOff x="2697480" y="2715768"/>
            <a:chExt cx="1828800" cy="1655064"/>
          </a:xfrm>
        </p:grpSpPr>
        <p:pic>
          <p:nvPicPr>
            <p:cNvPr id="34" name="Photo 2" descr="Photo of team member 2: replace with your own photo (right-click, Change Picture / Replace image)"/>
            <p:cNvPicPr>
              <a:picLocks noChangeAspect="1"/>
            </p:cNvPicPr>
            <p:nvPr/>
          </p:nvPicPr>
          <p:blipFill>
            <a:blip r:embed="rId10"/>
            <a:stretch>
              <a:fillRect/>
            </a:stretch>
          </p:blipFill>
          <p:spPr>
            <a:xfrm>
              <a:off x="3063240" y="2715768"/>
              <a:ext cx="1097280" cy="1097280"/>
            </a:xfrm>
            <a:prstGeom prst="ellipse">
              <a:avLst/>
            </a:prstGeom>
          </p:spPr>
        </p:pic>
        <p:sp>
          <p:nvSpPr>
            <p:cNvPr id="35" name="Name 2"/>
            <p:cNvSpPr txBox="1"/>
            <p:nvPr/>
          </p:nvSpPr>
          <p:spPr>
            <a:xfrm>
              <a:off x="2697480" y="3867912"/>
              <a:ext cx="1828800" cy="502920"/>
            </a:xfrm>
            <a:prstGeom prst="rect">
              <a:avLst/>
            </a:prstGeom>
            <a:noFill/>
          </p:spPr>
          <p:txBody>
            <a:bodyPr wrap="square" lIns="0" rIns="0" tIns="0" bIns="0" anchor="t">
              <a:noAutofit/>
            </a:bodyPr>
            <a:lstStyle/>
            <a:p>
              <a:pPr algn="ctr">
                <a:buNone/>
              </a:pPr>
              <a:r>
                <a:rPr lang="en-US" sz="1600" b="0" u="none" strike="noStrike">
                  <a:solidFill>
                    <a:srgbClr val="434343"/>
                  </a:solidFill>
                  <a:latin typeface="Arial"/>
                  <a:ea typeface="Avenir"/>
                </a:rPr>
                <a:t>Hoang-Nam Tran</a:t>
              </a:r>
            </a:p>
            <a:p>
              <a:pPr algn="ctr">
                <a:spcBef>
                  <a:spcPts val="200"/>
                </a:spcBef>
                <a:buNone/>
              </a:pPr>
              <a:r>
                <a:rPr lang="en-US" sz="1200" b="0" u="sng" strike="noStrike">
                  <a:solidFill>
                    <a:srgbClr val="467886"/>
                  </a:solidFill>
                  <a:latin typeface="Arial"/>
                  <a:ea typeface="Avenir"/>
                </a:rPr>
                <a:t>student.mail@tum.de</a:t>
              </a:r>
            </a:p>
          </p:txBody>
        </p:sp>
      </p:grpSp>
      <p:grpSp>
        <p:nvGrpSpPr>
          <p:cNvPr id="36" name="Team member 3"/>
          <p:cNvGrpSpPr/>
          <p:nvPr/>
        </p:nvGrpSpPr>
        <p:grpSpPr>
          <a:xfrm>
            <a:off x="4617720" y="2715768"/>
            <a:ext cx="1828800" cy="1655064"/>
            <a:chOff x="4617720" y="2715768"/>
            <a:chExt cx="1828800" cy="1655064"/>
          </a:xfrm>
        </p:grpSpPr>
        <p:pic>
          <p:nvPicPr>
            <p:cNvPr id="37" name="Photo 3" descr="Photo of team member 3: replace with your own photo (right-click, Change Picture / Replace image)"/>
            <p:cNvPicPr>
              <a:picLocks noChangeAspect="1"/>
            </p:cNvPicPr>
            <p:nvPr/>
          </p:nvPicPr>
          <p:blipFill>
            <a:blip r:embed="rId10"/>
            <a:stretch>
              <a:fillRect/>
            </a:stretch>
          </p:blipFill>
          <p:spPr>
            <a:xfrm>
              <a:off x="4983480" y="2715768"/>
              <a:ext cx="1097280" cy="1097280"/>
            </a:xfrm>
            <a:prstGeom prst="ellipse">
              <a:avLst/>
            </a:prstGeom>
          </p:spPr>
        </p:pic>
        <p:sp>
          <p:nvSpPr>
            <p:cNvPr id="38" name="Name 3"/>
            <p:cNvSpPr txBox="1"/>
            <p:nvPr/>
          </p:nvSpPr>
          <p:spPr>
            <a:xfrm>
              <a:off x="4617720" y="3867912"/>
              <a:ext cx="1828800" cy="502920"/>
            </a:xfrm>
            <a:prstGeom prst="rect">
              <a:avLst/>
            </a:prstGeom>
            <a:noFill/>
          </p:spPr>
          <p:txBody>
            <a:bodyPr wrap="square" lIns="0" rIns="0" tIns="0" bIns="0" anchor="t">
              <a:noAutofit/>
            </a:bodyPr>
            <a:lstStyle/>
            <a:p>
              <a:pPr algn="ctr">
                <a:buNone/>
              </a:pPr>
              <a:r>
                <a:rPr lang="en-US" sz="1600" b="0" u="none" strike="noStrike">
                  <a:solidFill>
                    <a:srgbClr val="434343"/>
                  </a:solidFill>
                  <a:latin typeface="Arial"/>
                  <a:ea typeface="Avenir"/>
                </a:rPr>
                <a:t>Nguyen-Bang Vu</a:t>
              </a:r>
            </a:p>
            <a:p>
              <a:pPr algn="ctr">
                <a:spcBef>
                  <a:spcPts val="200"/>
                </a:spcBef>
                <a:buNone/>
              </a:pPr>
              <a:r>
                <a:rPr lang="en-US" sz="1200" b="0" u="sng" strike="noStrike">
                  <a:solidFill>
                    <a:srgbClr val="467886"/>
                  </a:solidFill>
                  <a:latin typeface="Arial"/>
                  <a:ea typeface="Avenir"/>
                </a:rPr>
                <a:t>student.mail@tum.de</a:t>
              </a:r>
            </a:p>
          </p:txBody>
        </p:sp>
      </p:grpSp>
      <p:grpSp>
        <p:nvGrpSpPr>
          <p:cNvPr id="39" name="Team member 4"/>
          <p:cNvGrpSpPr/>
          <p:nvPr/>
        </p:nvGrpSpPr>
        <p:grpSpPr>
          <a:xfrm>
            <a:off x="6537960" y="2715768"/>
            <a:ext cx="1828800" cy="1655064"/>
            <a:chOff x="6537960" y="2715768"/>
            <a:chExt cx="1828800" cy="1655064"/>
          </a:xfrm>
        </p:grpSpPr>
        <p:pic>
          <p:nvPicPr>
            <p:cNvPr id="40" name="Photo 4" descr="Photo of team member 4: replace with your own photo (right-click, Change Picture / Replace image)"/>
            <p:cNvPicPr>
              <a:picLocks noChangeAspect="1"/>
            </p:cNvPicPr>
            <p:nvPr/>
          </p:nvPicPr>
          <p:blipFill>
            <a:blip r:embed="rId10"/>
            <a:stretch>
              <a:fillRect/>
            </a:stretch>
          </p:blipFill>
          <p:spPr>
            <a:xfrm>
              <a:off x="6903720" y="2715768"/>
              <a:ext cx="1097280" cy="1097280"/>
            </a:xfrm>
            <a:prstGeom prst="ellipse">
              <a:avLst/>
            </a:prstGeom>
          </p:spPr>
        </p:pic>
        <p:sp>
          <p:nvSpPr>
            <p:cNvPr id="41" name="Name 4"/>
            <p:cNvSpPr txBox="1"/>
            <p:nvPr/>
          </p:nvSpPr>
          <p:spPr>
            <a:xfrm>
              <a:off x="6537960" y="3867912"/>
              <a:ext cx="1828800" cy="502920"/>
            </a:xfrm>
            <a:prstGeom prst="rect">
              <a:avLst/>
            </a:prstGeom>
            <a:noFill/>
          </p:spPr>
          <p:txBody>
            <a:bodyPr wrap="square" lIns="0" rIns="0" tIns="0" bIns="0" anchor="t">
              <a:noAutofit/>
            </a:bodyPr>
            <a:lstStyle/>
            <a:p>
              <a:pPr algn="ctr">
                <a:buNone/>
              </a:pPr>
              <a:r>
                <a:rPr lang="en-US" sz="1600" b="0" u="none" strike="noStrike">
                  <a:solidFill>
                    <a:srgbClr val="434343"/>
                  </a:solidFill>
                  <a:latin typeface="Arial"/>
                  <a:ea typeface="Avenir"/>
                </a:rPr>
                <a:t>Student Name</a:t>
              </a:r>
            </a:p>
            <a:p>
              <a:pPr algn="ctr">
                <a:spcBef>
                  <a:spcPts val="200"/>
                </a:spcBef>
                <a:buNone/>
              </a:pPr>
              <a:r>
                <a:rPr lang="en-US" sz="1200" b="0" u="sng" strike="noStrike">
                  <a:solidFill>
                    <a:srgbClr val="467886"/>
                  </a:solidFill>
                  <a:latin typeface="Arial"/>
                  <a:ea typeface="Avenir"/>
                </a:rPr>
                <a:t>student.mail@tum.de</a:t>
              </a:r>
            </a:p>
          </p:txBody>
        </p:sp>
      </p:gr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0" i="0">
                <a:solidFill>
                  <a:srgbClr val="000000"/>
                </a:solidFill>
                <a:latin typeface="Arial"/>
              </a:rPr>
              <a:t>Most proteins will never be measured</a:t>
            </a:r>
          </a:p>
        </p:txBody>
      </p:sp>
      <p:sp>
        <p:nvSpPr>
          <p:cNvPr id="3" name="Content Placeholder 2"/>
          <p:cNvSpPr>
            <a:spLocks noGrp="1"/>
          </p:cNvSpPr>
          <p:nvPr>
            <p:ph/>
          </p:nvPr>
        </p:nvSpPr>
        <p:spPr/>
        <p:txBody>
          <a:bodyPr/>
          <a:lstStyle/>
          <a:p/>
        </p:txBody>
      </p:sp>
      <p:sp>
        <p:nvSpPr>
          <p:cNvPr id="4" name="PlaceHolder 3"/>
          <p:cNvSpPr>
            <a:spLocks noGrp="1"/>
          </p:cNvSpPr>
          <p:nvPr>
            <p:ph type="sldNum" idx="4"/>
          </p:nvPr>
        </p:nvSpPr>
        <p:spPr/>
        <p:txBody>
          <a:bodyPr/>
          <a:p>
            <a:fld id="{022DDFD0-1DF1-4F6A-9B35-C12DB353A077}" type="slidenum">
              <a:t>3</a:t>
            </a:fld>
          </a:p>
        </p:txBody>
      </p:sp>
      <p:sp>
        <p:nvSpPr>
          <p:cNvPr id="5" name="TextBox 4"/>
          <p:cNvSpPr txBox="1"/>
          <p:nvPr/>
        </p:nvSpPr>
        <p:spPr>
          <a:xfrm>
            <a:off x="228600" y="4600000"/>
            <a:ext cx="7400000" cy="500000"/>
          </a:xfrm>
          <a:prstGeom prst="rect">
            <a:avLst/>
          </a:prstGeom>
          <a:noFill/>
        </p:spPr>
        <p:txBody>
          <a:bodyPr wrap="square" anchor="t" lIns="45720" rIns="45720">
            <a:spAutoFit/>
          </a:bodyPr>
          <a:lstStyle/>
          <a:p>
            <a:pPr algn="l">
              <a:spcAft>
                <a:spcPts val="0"/>
              </a:spcAft>
            </a:pPr>
            <a:r>
              <a:rPr sz="800" b="0" i="0">
                <a:solidFill>
                  <a:srgbClr val="595959"/>
                </a:solidFill>
                <a:latin typeface="Arial"/>
              </a:rPr>
              <a:t>[1] UniProt Consortium. UniProt: the Universal Protein Knowledgebase. Nucleic Acids Res (2025); counts: UniProtKB 2026_03, queried 28.10.2026.</a:t>
            </a:r>
          </a:p>
        </p:txBody>
      </p:sp>
      <p:sp>
        <p:nvSpPr>
          <p:cNvPr id="6" name="TextBox 5"/>
          <p:cNvSpPr txBox="1"/>
          <p:nvPr/>
        </p:nvSpPr>
        <p:spPr>
          <a:xfrm>
            <a:off x="311760" y="1250000"/>
            <a:ext cx="4100000" cy="800000"/>
          </a:xfrm>
          <a:prstGeom prst="rect">
            <a:avLst/>
          </a:prstGeom>
          <a:noFill/>
        </p:spPr>
        <p:txBody>
          <a:bodyPr wrap="square" anchor="t" lIns="45720" rIns="45720">
            <a:spAutoFit/>
          </a:bodyPr>
          <a:lstStyle/>
          <a:p>
            <a:pPr algn="ctr">
              <a:spcAft>
                <a:spcPts val="600"/>
              </a:spcAft>
            </a:pPr>
            <a:r>
              <a:rPr sz="4800" b="0" i="0">
                <a:solidFill>
                  <a:srgbClr val="595959"/>
                </a:solidFill>
                <a:latin typeface="Arial"/>
              </a:rPr>
              <a:t>150,000,000</a:t>
            </a:r>
          </a:p>
        </p:txBody>
      </p:sp>
      <p:sp>
        <p:nvSpPr>
          <p:cNvPr id="7" name="TextBox 6"/>
          <p:cNvSpPr txBox="1"/>
          <p:nvPr/>
        </p:nvSpPr>
        <p:spPr>
          <a:xfrm>
            <a:off x="311760" y="2050000"/>
            <a:ext cx="4100000" cy="400000"/>
          </a:xfrm>
          <a:prstGeom prst="rect">
            <a:avLst/>
          </a:prstGeom>
          <a:noFill/>
        </p:spPr>
        <p:txBody>
          <a:bodyPr wrap="square" anchor="t" lIns="45720" rIns="45720">
            <a:spAutoFit/>
          </a:bodyPr>
          <a:lstStyle/>
          <a:p>
            <a:pPr algn="ctr">
              <a:spcAft>
                <a:spcPts val="600"/>
              </a:spcAft>
            </a:pPr>
            <a:r>
              <a:rPr sz="1600" b="0" i="0">
                <a:solidFill>
                  <a:srgbClr val="595959"/>
                </a:solidFill>
                <a:latin typeface="Arial"/>
              </a:rPr>
              <a:t>protein sequences in UniProtKB [1]</a:t>
            </a:r>
          </a:p>
        </p:txBody>
      </p:sp>
      <p:sp>
        <p:nvSpPr>
          <p:cNvPr id="8" name="TextBox 7"/>
          <p:cNvSpPr txBox="1"/>
          <p:nvPr/>
        </p:nvSpPr>
        <p:spPr>
          <a:xfrm>
            <a:off x="4711760" y="1250000"/>
            <a:ext cx="4100000" cy="800000"/>
          </a:xfrm>
          <a:prstGeom prst="rect">
            <a:avLst/>
          </a:prstGeom>
          <a:noFill/>
        </p:spPr>
        <p:txBody>
          <a:bodyPr wrap="square" anchor="t" lIns="45720" rIns="45720">
            <a:spAutoFit/>
          </a:bodyPr>
          <a:lstStyle/>
          <a:p>
            <a:pPr algn="ctr">
              <a:spcAft>
                <a:spcPts val="600"/>
              </a:spcAft>
            </a:pPr>
            <a:r>
              <a:rPr sz="4800" b="1" i="0">
                <a:solidFill>
                  <a:srgbClr val="0065BD"/>
                </a:solidFill>
                <a:latin typeface="Arial"/>
              </a:rPr>
              <a:t>48,401</a:t>
            </a:r>
          </a:p>
        </p:txBody>
      </p:sp>
      <p:sp>
        <p:nvSpPr>
          <p:cNvPr id="9" name="TextBox 8"/>
          <p:cNvSpPr txBox="1"/>
          <p:nvPr/>
        </p:nvSpPr>
        <p:spPr>
          <a:xfrm>
            <a:off x="4711760" y="2050000"/>
            <a:ext cx="4100000" cy="400000"/>
          </a:xfrm>
          <a:prstGeom prst="rect">
            <a:avLst/>
          </a:prstGeom>
          <a:noFill/>
        </p:spPr>
        <p:txBody>
          <a:bodyPr wrap="square" anchor="t" lIns="45720" rIns="45720">
            <a:spAutoFit/>
          </a:bodyPr>
          <a:lstStyle/>
          <a:p>
            <a:pPr algn="ctr">
              <a:spcAft>
                <a:spcPts val="600"/>
              </a:spcAft>
            </a:pPr>
            <a:r>
              <a:rPr sz="1600" b="0" i="0">
                <a:solidFill>
                  <a:srgbClr val="0065BD"/>
                </a:solidFill>
                <a:latin typeface="Arial"/>
              </a:rPr>
              <a:t>with experimentally measured enzyme activity [1]</a:t>
            </a:r>
          </a:p>
        </p:txBody>
      </p:sp>
      <p:sp>
        <p:nvSpPr>
          <p:cNvPr id="10" name="Rounded Rectangle 9"/>
          <p:cNvSpPr/>
          <p:nvPr/>
        </p:nvSpPr>
        <p:spPr>
          <a:xfrm>
            <a:off x="711760" y="2900000"/>
            <a:ext cx="7718320" cy="1100000"/>
          </a:xfrm>
          <a:prstGeom prst="roundRect">
            <a:avLst>
              <a:gd name="adj" fmla="val 12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0" rIns="64000"/>
          <a:lstStyle/>
          <a:p>
            <a:pPr algn="ctr"/>
            <a:r>
              <a:rPr sz="1800" b="1" i="0">
                <a:solidFill>
                  <a:srgbClr val="000000"/>
                </a:solidFill>
                <a:latin typeface="Arial"/>
              </a:rPr>
              <a:t>→ Everything else is annotated by transfer from a similar protein.</a:t>
            </a:r>
          </a:p>
          <a:p>
            <a:pPr algn="ctr"/>
            <a:r>
              <a:rPr sz="1700" b="0" i="0">
                <a:solidFill>
                  <a:srgbClr val="000000"/>
                </a:solidFill>
                <a:latin typeface="Arial"/>
              </a:rPr>
              <a:t>Sequence similarity (BLAST, MMseqs2) fails below ~30 % identity.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0" i="0">
                <a:solidFill>
                  <a:srgbClr val="000000"/>
                </a:solidFill>
                <a:latin typeface="Arial"/>
              </a:rPr>
              <a:t>EAT: a query inherits its nearest neighbour's label</a:t>
            </a:r>
          </a:p>
        </p:txBody>
      </p:sp>
      <p:sp>
        <p:nvSpPr>
          <p:cNvPr id="3" name="Content Placeholder 2"/>
          <p:cNvSpPr>
            <a:spLocks noGrp="1"/>
          </p:cNvSpPr>
          <p:nvPr>
            <p:ph/>
          </p:nvPr>
        </p:nvSpPr>
        <p:spPr/>
        <p:txBody>
          <a:bodyPr/>
          <a:lstStyle/>
          <a:p/>
        </p:txBody>
      </p:sp>
      <p:sp>
        <p:nvSpPr>
          <p:cNvPr id="4" name="PlaceHolder 3"/>
          <p:cNvSpPr>
            <a:spLocks noGrp="1"/>
          </p:cNvSpPr>
          <p:nvPr>
            <p:ph type="sldNum" idx="4"/>
          </p:nvPr>
        </p:nvSpPr>
        <p:spPr/>
        <p:txBody>
          <a:bodyPr/>
          <a:p>
            <a:fld id="{022DDFD0-1DF1-4F6A-9B35-C12DB353A077}" type="slidenum">
              <a:t>3</a:t>
            </a:fld>
          </a:p>
        </p:txBody>
      </p:sp>
      <p:sp>
        <p:nvSpPr>
          <p:cNvPr id="5" name="TextBox 4"/>
          <p:cNvSpPr txBox="1"/>
          <p:nvPr/>
        </p:nvSpPr>
        <p:spPr>
          <a:xfrm>
            <a:off x="228600" y="4600000"/>
            <a:ext cx="7400000" cy="500000"/>
          </a:xfrm>
          <a:prstGeom prst="rect">
            <a:avLst/>
          </a:prstGeom>
          <a:noFill/>
        </p:spPr>
        <p:txBody>
          <a:bodyPr wrap="square" anchor="t" lIns="45720" rIns="45720">
            <a:spAutoFit/>
          </a:bodyPr>
          <a:lstStyle/>
          <a:p>
            <a:pPr algn="l">
              <a:spcAft>
                <a:spcPts val="0"/>
              </a:spcAft>
            </a:pPr>
            <a:r>
              <a:rPr sz="800" b="0" i="0">
                <a:solidFill>
                  <a:srgbClr val="595959"/>
                </a:solidFill>
                <a:latin typeface="Arial"/>
              </a:rPr>
              <a:t>[2] M. Littmann … B. Rost. Embeddings transfer GO annotations beyond homology. Sci Rep (2021).</a:t>
            </a:r>
          </a:p>
          <a:p>
            <a:pPr algn="l">
              <a:spcAft>
                <a:spcPts val="0"/>
              </a:spcAft>
            </a:pPr>
            <a:r>
              <a:rPr sz="800" b="0" i="0">
                <a:solidFill>
                  <a:srgbClr val="595959"/>
                </a:solidFill>
                <a:latin typeface="Arial"/>
              </a:rPr>
              <a:t>[3] M. Heinzinger … B. Rost. Contrastive learning on protein embeddings enlightens midnight zone. NAR Genom Bioinform (2022).</a:t>
            </a:r>
          </a:p>
        </p:txBody>
      </p:sp>
      <p:sp>
        <p:nvSpPr>
          <p:cNvPr id="6" name="Rounded Rectangle 5"/>
          <p:cNvSpPr/>
          <p:nvPr/>
        </p:nvSpPr>
        <p:spPr>
          <a:xfrm>
            <a:off x="311760" y="1300000"/>
            <a:ext cx="1500000" cy="900000"/>
          </a:xfrm>
          <a:prstGeom prst="roundRect">
            <a:avLst>
              <a:gd name="adj" fmla="val 12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0" rIns="64000"/>
          <a:lstStyle/>
          <a:p>
            <a:pPr algn="ctr"/>
            <a:r>
              <a:rPr sz="1500" b="1" i="0">
                <a:solidFill>
                  <a:srgbClr val="000000"/>
                </a:solidFill>
                <a:latin typeface="Arial"/>
              </a:rPr>
              <a:t>Query</a:t>
            </a:r>
          </a:p>
          <a:p>
            <a:pPr algn="ctr"/>
            <a:r>
              <a:rPr sz="1400" b="0" i="0">
                <a:solidFill>
                  <a:srgbClr val="000000"/>
                </a:solidFill>
                <a:latin typeface="Arial"/>
              </a:rPr>
              <a:t>sequence</a:t>
            </a:r>
          </a:p>
        </p:txBody>
      </p:sp>
      <p:cxnSp>
        <p:nvCxnSpPr>
          <p:cNvPr id="7" name="Connector 6"/>
          <p:cNvCxnSpPr/>
          <p:nvPr/>
        </p:nvCxnSpPr>
        <p:spPr>
          <a:xfrm>
            <a:off x="1836760" y="1750000"/>
            <a:ext cx="204580" cy="0"/>
          </a:xfrm>
          <a:prstGeom prst="line">
            <a:avLst/>
          </a:prstGeom>
          <a:ln w="254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066340" y="1300000"/>
            <a:ext cx="1500000" cy="900000"/>
          </a:xfrm>
          <a:prstGeom prst="roundRect">
            <a:avLst>
              <a:gd name="adj" fmla="val 12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0" rIns="64000"/>
          <a:lstStyle/>
          <a:p>
            <a:pPr algn="ctr"/>
            <a:r>
              <a:rPr sz="1500" b="1" i="0">
                <a:solidFill>
                  <a:srgbClr val="000000"/>
                </a:solidFill>
                <a:latin typeface="Arial"/>
              </a:rPr>
              <a:t>Frozen pLM</a:t>
            </a:r>
          </a:p>
          <a:p>
            <a:pPr algn="ctr"/>
            <a:r>
              <a:rPr sz="1400" b="0" i="0">
                <a:solidFill>
                  <a:srgbClr val="000000"/>
                </a:solidFill>
                <a:latin typeface="Arial"/>
              </a:rPr>
              <a:t>e.g. ProtT5</a:t>
            </a:r>
          </a:p>
        </p:txBody>
      </p:sp>
      <p:cxnSp>
        <p:nvCxnSpPr>
          <p:cNvPr id="9" name="Connector 8"/>
          <p:cNvCxnSpPr/>
          <p:nvPr/>
        </p:nvCxnSpPr>
        <p:spPr>
          <a:xfrm>
            <a:off x="3591340" y="1750000"/>
            <a:ext cx="204580" cy="0"/>
          </a:xfrm>
          <a:prstGeom prst="line">
            <a:avLst/>
          </a:prstGeom>
          <a:ln w="254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820920" y="1300000"/>
            <a:ext cx="1500000" cy="900000"/>
          </a:xfrm>
          <a:prstGeom prst="roundRect">
            <a:avLst>
              <a:gd name="adj" fmla="val 12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0" rIns="64000"/>
          <a:lstStyle/>
          <a:p>
            <a:pPr algn="ctr"/>
            <a:r>
              <a:rPr sz="1500" b="1" i="0">
                <a:solidFill>
                  <a:srgbClr val="000000"/>
                </a:solidFill>
                <a:latin typeface="Arial"/>
              </a:rPr>
              <a:t>Mean pooling</a:t>
            </a:r>
          </a:p>
          <a:p>
            <a:pPr algn="ctr"/>
            <a:r>
              <a:rPr sz="1400" b="0" i="0">
                <a:solidFill>
                  <a:srgbClr val="000000"/>
                </a:solidFill>
                <a:latin typeface="Arial"/>
              </a:rPr>
              <a:t>1 vector</a:t>
            </a:r>
          </a:p>
        </p:txBody>
      </p:sp>
      <p:cxnSp>
        <p:nvCxnSpPr>
          <p:cNvPr id="11" name="Connector 10"/>
          <p:cNvCxnSpPr/>
          <p:nvPr/>
        </p:nvCxnSpPr>
        <p:spPr>
          <a:xfrm>
            <a:off x="5345920" y="1750000"/>
            <a:ext cx="204580" cy="0"/>
          </a:xfrm>
          <a:prstGeom prst="line">
            <a:avLst/>
          </a:prstGeom>
          <a:ln w="254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575500" y="1300000"/>
            <a:ext cx="1500000" cy="900000"/>
          </a:xfrm>
          <a:prstGeom prst="roundRect">
            <a:avLst>
              <a:gd name="adj" fmla="val 12000"/>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0" rIns="64000"/>
          <a:lstStyle/>
          <a:p>
            <a:pPr algn="ctr"/>
            <a:r>
              <a:rPr sz="1500" b="1" i="0">
                <a:solidFill>
                  <a:srgbClr val="FFFFFF"/>
                </a:solidFill>
                <a:latin typeface="Arial"/>
              </a:rPr>
              <a:t>Nearest</a:t>
            </a:r>
          </a:p>
          <a:p>
            <a:pPr algn="ctr"/>
            <a:r>
              <a:rPr sz="1400" b="0" i="0">
                <a:solidFill>
                  <a:srgbClr val="FFFFFF"/>
                </a:solidFill>
                <a:latin typeface="Arial"/>
              </a:rPr>
              <a:t>neighbour</a:t>
            </a:r>
          </a:p>
        </p:txBody>
      </p:sp>
      <p:cxnSp>
        <p:nvCxnSpPr>
          <p:cNvPr id="13" name="Connector 12"/>
          <p:cNvCxnSpPr/>
          <p:nvPr/>
        </p:nvCxnSpPr>
        <p:spPr>
          <a:xfrm>
            <a:off x="7100500" y="1750000"/>
            <a:ext cx="204580" cy="0"/>
          </a:xfrm>
          <a:prstGeom prst="line">
            <a:avLst/>
          </a:prstGeom>
          <a:ln w="254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330080" y="1300000"/>
            <a:ext cx="1500000" cy="900000"/>
          </a:xfrm>
          <a:prstGeom prst="roundRect">
            <a:avLst>
              <a:gd name="adj" fmla="val 12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0" rIns="64000"/>
          <a:lstStyle/>
          <a:p>
            <a:pPr algn="ctr"/>
            <a:r>
              <a:rPr sz="1500" b="1" i="0">
                <a:solidFill>
                  <a:srgbClr val="000000"/>
                </a:solidFill>
                <a:latin typeface="Arial"/>
              </a:rPr>
              <a:t>Copy label</a:t>
            </a:r>
          </a:p>
          <a:p>
            <a:pPr algn="ctr"/>
            <a:r>
              <a:rPr sz="1400" b="0" i="0">
                <a:solidFill>
                  <a:srgbClr val="000000"/>
                </a:solidFill>
                <a:latin typeface="Arial"/>
              </a:rPr>
              <a:t>+ reliability</a:t>
            </a:r>
          </a:p>
        </p:txBody>
      </p:sp>
      <p:sp>
        <p:nvSpPr>
          <p:cNvPr id="15" name="TextBox 14"/>
          <p:cNvSpPr txBox="1"/>
          <p:nvPr/>
        </p:nvSpPr>
        <p:spPr>
          <a:xfrm>
            <a:off x="311760" y="2500000"/>
            <a:ext cx="8518320" cy="400000"/>
          </a:xfrm>
          <a:prstGeom prst="rect">
            <a:avLst/>
          </a:prstGeom>
          <a:noFill/>
        </p:spPr>
        <p:txBody>
          <a:bodyPr wrap="square" anchor="t" lIns="45720" rIns="45720">
            <a:spAutoFit/>
          </a:bodyPr>
          <a:lstStyle/>
          <a:p>
            <a:pPr algn="ctr">
              <a:spcAft>
                <a:spcPts val="600"/>
              </a:spcAft>
            </a:pPr>
            <a:r>
              <a:rPr sz="1800" b="0" i="0">
                <a:solidFill>
                  <a:srgbClr val="595959"/>
                </a:solidFill>
                <a:latin typeface="Arial"/>
              </a:rPr>
              <a:t>Reliability index (goPredSim):  </a:t>
            </a:r>
            <a:r>
              <a:rPr sz="1800" b="1" i="0">
                <a:solidFill>
                  <a:srgbClr val="000000"/>
                </a:solidFill>
                <a:latin typeface="Arial"/>
              </a:rPr>
              <a:t>RI = 0.5 / (0.5 + d)</a:t>
            </a:r>
          </a:p>
        </p:txBody>
      </p:sp>
      <p:sp>
        <p:nvSpPr>
          <p:cNvPr id="16" name="TextBox 15"/>
          <p:cNvSpPr txBox="1"/>
          <p:nvPr/>
        </p:nvSpPr>
        <p:spPr>
          <a:xfrm>
            <a:off x="311760" y="3050000"/>
            <a:ext cx="8518320" cy="800000"/>
          </a:xfrm>
          <a:prstGeom prst="rect">
            <a:avLst/>
          </a:prstGeom>
          <a:noFill/>
        </p:spPr>
        <p:txBody>
          <a:bodyPr wrap="square" anchor="t" lIns="45720" rIns="45720">
            <a:spAutoFit/>
          </a:bodyPr>
          <a:lstStyle/>
          <a:p>
            <a:pPr algn="ctr">
              <a:spcAft>
                <a:spcPts val="400"/>
              </a:spcAft>
            </a:pPr>
            <a:r>
              <a:rPr sz="1600" b="0" i="0">
                <a:solidFill>
                  <a:srgbClr val="000000"/>
                </a:solidFill>
                <a:latin typeface="Arial"/>
              </a:rPr>
              <a:t>Training-free, yet beats BLAST for GO terms [2]</a:t>
            </a:r>
          </a:p>
          <a:p>
            <a:pPr algn="ctr">
              <a:spcAft>
                <a:spcPts val="400"/>
              </a:spcAft>
            </a:pPr>
            <a:r>
              <a:rPr sz="1600" b="0" i="0">
                <a:solidFill>
                  <a:srgbClr val="000000"/>
                </a:solidFill>
                <a:latin typeface="Arial"/>
              </a:rPr>
              <a:t>CATH superfamily, remote homologues: raw ProtT5 64 % vs MMseqs2 35 %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0" i="0">
                <a:solidFill>
                  <a:srgbClr val="000000"/>
                </a:solidFill>
                <a:latin typeface="Arial"/>
              </a:rPr>
              <a:t>Raw EAT: a common baseline, set up differently each time</a:t>
            </a:r>
          </a:p>
        </p:txBody>
      </p:sp>
      <p:sp>
        <p:nvSpPr>
          <p:cNvPr id="3" name="Content Placeholder 2"/>
          <p:cNvSpPr>
            <a:spLocks noGrp="1"/>
          </p:cNvSpPr>
          <p:nvPr>
            <p:ph/>
          </p:nvPr>
        </p:nvSpPr>
        <p:spPr/>
        <p:txBody>
          <a:bodyPr/>
          <a:lstStyle/>
          <a:p/>
        </p:txBody>
      </p:sp>
      <p:sp>
        <p:nvSpPr>
          <p:cNvPr id="4" name="PlaceHolder 3"/>
          <p:cNvSpPr>
            <a:spLocks noGrp="1"/>
          </p:cNvSpPr>
          <p:nvPr>
            <p:ph type="sldNum" idx="4"/>
          </p:nvPr>
        </p:nvSpPr>
        <p:spPr/>
        <p:txBody>
          <a:bodyPr/>
          <a:p>
            <a:fld id="{022DDFD0-1DF1-4F6A-9B35-C12DB353A077}" type="slidenum">
              <a:t>3</a:t>
            </a:fld>
          </a:p>
        </p:txBody>
      </p:sp>
      <p:sp>
        <p:nvSpPr>
          <p:cNvPr id="5" name="TextBox 4"/>
          <p:cNvSpPr txBox="1"/>
          <p:nvPr/>
        </p:nvSpPr>
        <p:spPr>
          <a:xfrm>
            <a:off x="228600" y="4600000"/>
            <a:ext cx="7400000" cy="500000"/>
          </a:xfrm>
          <a:prstGeom prst="rect">
            <a:avLst/>
          </a:prstGeom>
          <a:noFill/>
        </p:spPr>
        <p:txBody>
          <a:bodyPr wrap="square" anchor="t" lIns="45720" rIns="45720">
            <a:spAutoFit/>
          </a:bodyPr>
          <a:lstStyle/>
          <a:p>
            <a:pPr algn="l">
              <a:spcAft>
                <a:spcPts val="0"/>
              </a:spcAft>
            </a:pPr>
            <a:r>
              <a:rPr sz="800" b="0" i="0">
                <a:solidFill>
                  <a:srgbClr val="595959"/>
                </a:solidFill>
                <a:latin typeface="Arial"/>
              </a:rPr>
              <a:t>[3] Heinzinger … Rost (2022).  [4] A. Elnaggar … B. Rost. Ankh: Optimized protein language model. arXiv (2023).</a:t>
            </a:r>
          </a:p>
          <a:p>
            <a:pPr algn="l">
              <a:spcAft>
                <a:spcPts val="0"/>
              </a:spcAft>
            </a:pPr>
            <a:r>
              <a:rPr sz="800" b="0" i="0">
                <a:solidFill>
                  <a:srgbClr val="595959"/>
                </a:solidFill>
                <a:latin typeface="Arial"/>
              </a:rPr>
              <a:t>[5] D. Miller … C. Orengo. ContrasTED. bioRxiv (2026).  [6] Y. Mahlich … Y. Bromberg. HFSP. Bioinformatics (2018).</a:t>
            </a:r>
          </a:p>
        </p:txBody>
      </p:sp>
      <p:graphicFrame>
        <p:nvGraphicFramePr>
          <p:cNvPr id="6" name="Chart 5"/>
          <p:cNvGraphicFramePr>
            <a:graphicFrameLocks noGrp="1"/>
          </p:cNvGraphicFramePr>
          <p:nvPr/>
        </p:nvGraphicFramePr>
        <p:xfrm>
          <a:off x="311760" y="1150000"/>
          <a:ext cx="4300000" cy="2650000"/>
        </p:xfrm>
        <a:graphic>
          <a:graphicData uri="http://schemas.openxmlformats.org/drawingml/2006/chart">
            <c:chart xmlns:c="http://schemas.openxmlformats.org/drawingml/2006/chart" r:id="rId3"/>
          </a:graphicData>
        </a:graphic>
      </p:graphicFrame>
      <p:sp>
        <p:nvSpPr>
          <p:cNvPr id="7" name="TextBox 6"/>
          <p:cNvSpPr txBox="1"/>
          <p:nvPr/>
        </p:nvSpPr>
        <p:spPr>
          <a:xfrm>
            <a:off x="311760" y="3800000"/>
            <a:ext cx="4300000" cy="300000"/>
          </a:xfrm>
          <a:prstGeom prst="rect">
            <a:avLst/>
          </a:prstGeom>
          <a:noFill/>
        </p:spPr>
        <p:txBody>
          <a:bodyPr wrap="square" anchor="t" lIns="45720" rIns="45720">
            <a:spAutoFit/>
          </a:bodyPr>
          <a:lstStyle/>
          <a:p>
            <a:pPr algn="ctr">
              <a:spcAft>
                <a:spcPts val="600"/>
              </a:spcAft>
            </a:pPr>
            <a:r>
              <a:rPr sz="1100" b="0" i="0">
                <a:solidFill>
                  <a:srgbClr val="595959"/>
                </a:solidFill>
                <a:latin typeface="Arial"/>
              </a:rPr>
              <a:t>Same pLM, same test + lookup sets: 9 points apart. No CIs reported.</a:t>
            </a:r>
          </a:p>
        </p:txBody>
      </p:sp>
      <p:sp>
        <p:nvSpPr>
          <p:cNvPr id="8" name="TextBox 7"/>
          <p:cNvSpPr txBox="1"/>
          <p:nvPr/>
        </p:nvSpPr>
        <p:spPr>
          <a:xfrm>
            <a:off x="4861760" y="1250000"/>
            <a:ext cx="3950000" cy="3000000"/>
          </a:xfrm>
          <a:prstGeom prst="rect">
            <a:avLst/>
          </a:prstGeom>
          <a:noFill/>
        </p:spPr>
        <p:txBody>
          <a:bodyPr wrap="square" anchor="t" lIns="45720" rIns="45720">
            <a:spAutoFit/>
          </a:bodyPr>
          <a:lstStyle/>
          <a:p>
            <a:pPr algn="l">
              <a:spcAft>
                <a:spcPts val="1000"/>
              </a:spcAft>
            </a:pPr>
            <a:r>
              <a:rPr sz="1500" b="0" i="0">
                <a:solidFill>
                  <a:srgbClr val="000000"/>
                </a:solidFill>
                <a:latin typeface="Arial"/>
              </a:rPr>
              <a:t>• Every paper picks pLM, pooling, distance, k and lookup set differently</a:t>
            </a:r>
          </a:p>
          <a:p>
            <a:pPr algn="l">
              <a:spcAft>
                <a:spcPts val="1000"/>
              </a:spcAft>
            </a:pPr>
            <a:r>
              <a:rPr sz="1500" b="0" i="0">
                <a:solidFill>
                  <a:srgbClr val="000000"/>
                </a:solidFill>
                <a:latin typeface="Arial"/>
              </a:rPr>
              <a:t>• The pLM matters: ProtT5 → ProstT5 raises CATH-H from 69.6 to 78.5 % [5]</a:t>
            </a:r>
          </a:p>
          <a:p>
            <a:pPr algn="l">
              <a:spcAft>
                <a:spcPts val="1000"/>
              </a:spcAft>
            </a:pPr>
            <a:r>
              <a:rPr sz="1500" b="0" i="0">
                <a:solidFill>
                  <a:srgbClr val="000000"/>
                </a:solidFill>
                <a:latin typeface="Arial"/>
              </a:rPr>
              <a:t>• RI cutoffs were tuned for SeqVec (2021); distance scales differ across pLMs</a:t>
            </a:r>
          </a:p>
          <a:p>
            <a:pPr algn="l">
              <a:spcAft>
                <a:spcPts val="1000"/>
              </a:spcAft>
            </a:pPr>
            <a:r>
              <a:rPr sz="1500" b="1" i="0">
                <a:solidFill>
                  <a:srgbClr val="000000"/>
                </a:solidFill>
                <a:latin typeface="Arial"/>
              </a:rPr>
              <a:t>• No “HFSP for embeddings” [6]: </a:t>
            </a:r>
            <a:r>
              <a:rPr sz="1500" b="0" i="0">
                <a:solidFill>
                  <a:srgbClr val="000000"/>
                </a:solidFill>
                <a:latin typeface="Arial"/>
              </a:rPr>
              <a:t>no calibrated safe-transfer threshold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0" i="0">
                <a:solidFill>
                  <a:srgbClr val="000000"/>
                </a:solidFill>
                <a:latin typeface="Arial"/>
              </a:rPr>
              <a:t>Two research questions</a:t>
            </a:r>
          </a:p>
        </p:txBody>
      </p:sp>
      <p:sp>
        <p:nvSpPr>
          <p:cNvPr id="3" name="Content Placeholder 2"/>
          <p:cNvSpPr>
            <a:spLocks noGrp="1"/>
          </p:cNvSpPr>
          <p:nvPr>
            <p:ph/>
          </p:nvPr>
        </p:nvSpPr>
        <p:spPr/>
        <p:txBody>
          <a:bodyPr/>
          <a:lstStyle/>
          <a:p/>
        </p:txBody>
      </p:sp>
      <p:sp>
        <p:nvSpPr>
          <p:cNvPr id="4" name="PlaceHolder 3"/>
          <p:cNvSpPr>
            <a:spLocks noGrp="1"/>
          </p:cNvSpPr>
          <p:nvPr>
            <p:ph type="sldNum" idx="4"/>
          </p:nvPr>
        </p:nvSpPr>
        <p:spPr/>
        <p:txBody>
          <a:bodyPr/>
          <a:p>
            <a:fld id="{022DDFD0-1DF1-4F6A-9B35-C12DB353A077}" type="slidenum">
              <a:t>3</a:t>
            </a:fld>
          </a:p>
        </p:txBody>
      </p:sp>
      <p:sp>
        <p:nvSpPr>
          <p:cNvPr id="5" name="Rounded Rectangle 4"/>
          <p:cNvSpPr/>
          <p:nvPr/>
        </p:nvSpPr>
        <p:spPr>
          <a:xfrm>
            <a:off x="311760" y="1150000"/>
            <a:ext cx="4150000" cy="1700000"/>
          </a:xfrm>
          <a:prstGeom prst="roundRect">
            <a:avLst>
              <a:gd name="adj" fmla="val 12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0" rIns="64000"/>
          <a:lstStyle/>
          <a:p>
            <a:pPr algn="ctr"/>
            <a:r>
              <a:rPr sz="1600" b="1" i="0">
                <a:solidFill>
                  <a:srgbClr val="000000"/>
                </a:solidFill>
                <a:latin typeface="Arial"/>
              </a:rPr>
              <a:t>RQ1  Which pLM and distance?</a:t>
            </a:r>
          </a:p>
          <a:p>
            <a:pPr algn="ctr"/>
            <a:r>
              <a:rPr sz="1500" b="0" i="0">
                <a:solidFill>
                  <a:srgbClr val="000000"/>
                </a:solidFill>
                <a:latin typeface="Arial"/>
              </a:rPr>
              <a:t>Which pLM and distance (Euclidean vs cosine) transfer structure (CATH) and function (EC) best – and where does EAT beat sequence similarity?</a:t>
            </a:r>
          </a:p>
        </p:txBody>
      </p:sp>
      <p:sp>
        <p:nvSpPr>
          <p:cNvPr id="6" name="Rounded Rectangle 5"/>
          <p:cNvSpPr/>
          <p:nvPr/>
        </p:nvSpPr>
        <p:spPr>
          <a:xfrm>
            <a:off x="4681760" y="1150000"/>
            <a:ext cx="4150000" cy="1700000"/>
          </a:xfrm>
          <a:prstGeom prst="roundRect">
            <a:avLst>
              <a:gd name="adj" fmla="val 12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0" rIns="64000"/>
          <a:lstStyle/>
          <a:p>
            <a:pPr algn="ctr"/>
            <a:r>
              <a:rPr sz="1600" b="1" i="0">
                <a:solidFill>
                  <a:srgbClr val="000000"/>
                </a:solidFill>
                <a:latin typeface="Arial"/>
              </a:rPr>
              <a:t>RQ2  When is a transfer safe?</a:t>
            </a:r>
          </a:p>
          <a:p>
            <a:pPr algn="ctr"/>
            <a:r>
              <a:rPr sz="1500" b="0" i="0">
                <a:solidFill>
                  <a:srgbClr val="000000"/>
                </a:solidFill>
                <a:latin typeface="Arial"/>
              </a:rPr>
              <a:t>Up to which distance is transfer safe (e.g. ≥ 95 % precision)? One reliability score that means the same for every pLM (0.9 = 90 % correct).</a:t>
            </a:r>
          </a:p>
        </p:txBody>
      </p:sp>
      <p:sp>
        <p:nvSpPr>
          <p:cNvPr id="7" name="TextBox 6"/>
          <p:cNvSpPr txBox="1"/>
          <p:nvPr/>
        </p:nvSpPr>
        <p:spPr>
          <a:xfrm>
            <a:off x="311760" y="3050000"/>
            <a:ext cx="8518320" cy="350000"/>
          </a:xfrm>
          <a:prstGeom prst="rect">
            <a:avLst/>
          </a:prstGeom>
          <a:noFill/>
        </p:spPr>
        <p:txBody>
          <a:bodyPr wrap="square" anchor="t" lIns="45720" rIns="45720">
            <a:spAutoFit/>
          </a:bodyPr>
          <a:lstStyle/>
          <a:p>
            <a:pPr algn="l">
              <a:spcAft>
                <a:spcPts val="600"/>
              </a:spcAft>
            </a:pPr>
            <a:r>
              <a:rPr sz="1600" b="1" i="0">
                <a:solidFill>
                  <a:srgbClr val="0065BD"/>
                </a:solidFill>
                <a:latin typeface="Arial"/>
              </a:rPr>
              <a:t>What “raw” means</a:t>
            </a:r>
          </a:p>
        </p:txBody>
      </p:sp>
      <p:sp>
        <p:nvSpPr>
          <p:cNvPr id="8" name="TextBox 7"/>
          <p:cNvSpPr txBox="1"/>
          <p:nvPr/>
        </p:nvSpPr>
        <p:spPr>
          <a:xfrm>
            <a:off x="311760" y="3400000"/>
            <a:ext cx="8518320" cy="1100000"/>
          </a:xfrm>
          <a:prstGeom prst="rect">
            <a:avLst/>
          </a:prstGeom>
          <a:noFill/>
        </p:spPr>
        <p:txBody>
          <a:bodyPr wrap="square" anchor="t" lIns="45720" rIns="45720">
            <a:spAutoFit/>
          </a:bodyPr>
          <a:lstStyle/>
          <a:p>
            <a:pPr algn="l">
              <a:spcAft>
                <a:spcPts val="400"/>
              </a:spcAft>
            </a:pPr>
            <a:r>
              <a:rPr sz="1500" b="0" i="0">
                <a:solidFill>
                  <a:srgbClr val="000000"/>
                </a:solidFill>
                <a:latin typeface="Arial"/>
              </a:rPr>
              <a:t>• Frozen pLM · mean of last-layer residue embeddings · label of nearest neighbour(s)</a:t>
            </a:r>
          </a:p>
          <a:p>
            <a:pPr algn="l">
              <a:spcAft>
                <a:spcPts val="400"/>
              </a:spcAft>
            </a:pPr>
            <a:r>
              <a:rPr sz="1500" b="0" i="0">
                <a:solidFill>
                  <a:srgbClr val="000000"/>
                </a:solidFill>
                <a:latin typeface="Arial"/>
              </a:rPr>
              <a:t>• Nothing trained on top: no contrastive learning, probes or fine-tuning</a:t>
            </a:r>
          </a:p>
          <a:p>
            <a:pPr algn="l">
              <a:spcAft>
                <a:spcPts val="400"/>
              </a:spcAft>
            </a:pPr>
            <a:r>
              <a:rPr sz="1500" b="0" i="0">
                <a:solidFill>
                  <a:srgbClr val="000000"/>
                </a:solidFill>
                <a:latin typeface="Arial"/>
              </a:rPr>
              <a:t>• Labels only on a calibration set – never on the test set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0" i="0">
                <a:solidFill>
                  <a:srgbClr val="000000"/>
                </a:solidFill>
                <a:latin typeface="Arial"/>
              </a:rPr>
              <a:t>11 pLMs × 2 distances × 2 tasks, each vs sequence search</a:t>
            </a:r>
          </a:p>
        </p:txBody>
      </p:sp>
      <p:sp>
        <p:nvSpPr>
          <p:cNvPr id="3" name="Content Placeholder 2"/>
          <p:cNvSpPr>
            <a:spLocks noGrp="1"/>
          </p:cNvSpPr>
          <p:nvPr>
            <p:ph/>
          </p:nvPr>
        </p:nvSpPr>
        <p:spPr/>
        <p:txBody>
          <a:bodyPr/>
          <a:lstStyle/>
          <a:p/>
        </p:txBody>
      </p:sp>
      <p:sp>
        <p:nvSpPr>
          <p:cNvPr id="4" name="PlaceHolder 3"/>
          <p:cNvSpPr>
            <a:spLocks noGrp="1"/>
          </p:cNvSpPr>
          <p:nvPr>
            <p:ph type="sldNum" idx="4"/>
          </p:nvPr>
        </p:nvSpPr>
        <p:spPr/>
        <p:txBody>
          <a:bodyPr/>
          <a:p>
            <a:fld id="{022DDFD0-1DF1-4F6A-9B35-C12DB353A077}" type="slidenum">
              <a:t>3</a:t>
            </a:fld>
          </a:p>
        </p:txBody>
      </p:sp>
      <p:sp>
        <p:nvSpPr>
          <p:cNvPr id="5" name="TextBox 4"/>
          <p:cNvSpPr txBox="1"/>
          <p:nvPr/>
        </p:nvSpPr>
        <p:spPr>
          <a:xfrm>
            <a:off x="228600" y="4600000"/>
            <a:ext cx="7400000" cy="500000"/>
          </a:xfrm>
          <a:prstGeom prst="rect">
            <a:avLst/>
          </a:prstGeom>
          <a:noFill/>
        </p:spPr>
        <p:txBody>
          <a:bodyPr wrap="square" anchor="t" lIns="45720" rIns="45720">
            <a:spAutoFit/>
          </a:bodyPr>
          <a:lstStyle/>
          <a:p>
            <a:pPr algn="l">
              <a:spcAft>
                <a:spcPts val="0"/>
              </a:spcAft>
            </a:pPr>
            <a:r>
              <a:rPr sz="800" b="0" i="0">
                <a:solidFill>
                  <a:srgbClr val="595959"/>
                </a:solidFill>
                <a:latin typeface="Arial"/>
              </a:rPr>
              <a:t>Embedding sizes: Hugging Face model configs; ESM C from the EvolutionaryScale ESM repository.</a:t>
            </a:r>
          </a:p>
        </p:txBody>
      </p:sp>
      <p:graphicFrame>
        <p:nvGraphicFramePr>
          <p:cNvPr id="6" name="Table 5"/>
          <p:cNvGraphicFramePr>
            <a:graphicFrameLocks noGrp="1"/>
          </p:cNvGraphicFramePr>
          <p:nvPr/>
        </p:nvGraphicFramePr>
        <p:xfrm>
          <a:off x="311760" y="1150000"/>
          <a:ext cx="5300000" cy="2000000"/>
        </p:xfrm>
        <a:graphic>
          <a:graphicData uri="http://schemas.openxmlformats.org/drawingml/2006/table">
            <a:tbl>
              <a:tblPr firstRow="1" bandRow="1">
                <a:tableStyleId>{5C22544A-7EE6-4342-B048-85BDC9FD1C3A}</a:tableStyleId>
              </a:tblPr>
              <a:tblGrid>
                <a:gridCol w="1200000"/>
                <a:gridCol w="2800000"/>
                <a:gridCol w="1300000"/>
              </a:tblGrid>
              <a:tr h="400000">
                <a:tc>
                  <a:txBody>
                    <a:bodyPr/>
                    <a:lstStyle/>
                    <a:p>
                      <a:r>
                        <a:rPr sz="1400" b="1" i="0">
                          <a:solidFill>
                            <a:srgbClr val="FFFFFF"/>
                          </a:solidFill>
                          <a:latin typeface="Arial"/>
                        </a:rPr>
                        <a:t>Family</a:t>
                      </a:r>
                    </a:p>
                  </a:txBody>
                  <a:tcPr>
                    <a:solidFill>
                      <a:srgbClr val="0065BD"/>
                    </a:solidFill>
                  </a:tcPr>
                </a:tc>
                <a:tc>
                  <a:txBody>
                    <a:bodyPr/>
                    <a:lstStyle/>
                    <a:p>
                      <a:r>
                        <a:rPr sz="1400" b="1" i="0">
                          <a:solidFill>
                            <a:srgbClr val="FFFFFF"/>
                          </a:solidFill>
                          <a:latin typeface="Arial"/>
                        </a:rPr>
                        <a:t>Models</a:t>
                      </a:r>
                    </a:p>
                  </a:txBody>
                  <a:tcPr>
                    <a:solidFill>
                      <a:srgbClr val="0065BD"/>
                    </a:solidFill>
                  </a:tcPr>
                </a:tc>
                <a:tc>
                  <a:txBody>
                    <a:bodyPr/>
                    <a:lstStyle/>
                    <a:p>
                      <a:r>
                        <a:rPr sz="1400" b="1" i="0">
                          <a:solidFill>
                            <a:srgbClr val="FFFFFF"/>
                          </a:solidFill>
                          <a:latin typeface="Arial"/>
                        </a:rPr>
                        <a:t>Dim</a:t>
                      </a:r>
                    </a:p>
                  </a:txBody>
                  <a:tcPr>
                    <a:solidFill>
                      <a:srgbClr val="0065BD"/>
                    </a:solidFill>
                  </a:tcPr>
                </a:tc>
              </a:tr>
              <a:tr h="400000">
                <a:tc>
                  <a:txBody>
                    <a:bodyPr/>
                    <a:lstStyle/>
                    <a:p>
                      <a:r>
                        <a:rPr sz="1400" b="0" i="0">
                          <a:solidFill>
                            <a:srgbClr val="000000"/>
                          </a:solidFill>
                          <a:latin typeface="Arial"/>
                        </a:rPr>
                        <a:t>ProtT5</a:t>
                      </a:r>
                    </a:p>
                  </a:txBody>
                  <a:tcPr>
                    <a:solidFill>
                      <a:srgbClr val="E8EEF5"/>
                    </a:solidFill>
                  </a:tcPr>
                </a:tc>
                <a:tc>
                  <a:txBody>
                    <a:bodyPr/>
                    <a:lstStyle/>
                    <a:p>
                      <a:r>
                        <a:rPr sz="1400" b="0" i="0">
                          <a:solidFill>
                            <a:srgbClr val="000000"/>
                          </a:solidFill>
                          <a:latin typeface="Arial"/>
                        </a:rPr>
                        <a:t>ProtT5-XL-U50 · ProstT5</a:t>
                      </a:r>
                    </a:p>
                  </a:txBody>
                  <a:tcPr>
                    <a:solidFill>
                      <a:srgbClr val="E8EEF5"/>
                    </a:solidFill>
                  </a:tcPr>
                </a:tc>
                <a:tc>
                  <a:txBody>
                    <a:bodyPr/>
                    <a:lstStyle/>
                    <a:p>
                      <a:r>
                        <a:rPr sz="1400" b="0" i="0">
                          <a:solidFill>
                            <a:srgbClr val="000000"/>
                          </a:solidFill>
                          <a:latin typeface="Arial"/>
                        </a:rPr>
                        <a:t>1024</a:t>
                      </a:r>
                    </a:p>
                  </a:txBody>
                  <a:tcPr>
                    <a:solidFill>
                      <a:srgbClr val="E8EEF5"/>
                    </a:solidFill>
                  </a:tcPr>
                </a:tc>
              </a:tr>
              <a:tr h="400000">
                <a:tc>
                  <a:txBody>
                    <a:bodyPr/>
                    <a:lstStyle/>
                    <a:p>
                      <a:r>
                        <a:rPr sz="1400" b="0" i="0">
                          <a:solidFill>
                            <a:srgbClr val="000000"/>
                          </a:solidFill>
                          <a:latin typeface="Arial"/>
                        </a:rPr>
                        <a:t>ESM-2</a:t>
                      </a:r>
                    </a:p>
                  </a:txBody>
                  <a:tcPr>
                    <a:solidFill>
                      <a:srgbClr val="FFFFFF"/>
                    </a:solidFill>
                  </a:tcPr>
                </a:tc>
                <a:tc>
                  <a:txBody>
                    <a:bodyPr/>
                    <a:lstStyle/>
                    <a:p>
                      <a:r>
                        <a:rPr sz="1400" b="0" i="0">
                          <a:solidFill>
                            <a:srgbClr val="000000"/>
                          </a:solidFill>
                          <a:latin typeface="Arial"/>
                        </a:rPr>
                        <a:t>8M · 35M · 150M · 650M · 3B</a:t>
                      </a:r>
                    </a:p>
                  </a:txBody>
                  <a:tcPr>
                    <a:solidFill>
                      <a:srgbClr val="FFFFFF"/>
                    </a:solidFill>
                  </a:tcPr>
                </a:tc>
                <a:tc>
                  <a:txBody>
                    <a:bodyPr/>
                    <a:lstStyle/>
                    <a:p>
                      <a:r>
                        <a:rPr sz="1400" b="0" i="0">
                          <a:solidFill>
                            <a:srgbClr val="000000"/>
                          </a:solidFill>
                          <a:latin typeface="Arial"/>
                        </a:rPr>
                        <a:t>320 → 2560</a:t>
                      </a:r>
                    </a:p>
                  </a:txBody>
                  <a:tcPr>
                    <a:solidFill>
                      <a:srgbClr val="FFFFFF"/>
                    </a:solidFill>
                  </a:tcPr>
                </a:tc>
              </a:tr>
              <a:tr h="400000">
                <a:tc>
                  <a:txBody>
                    <a:bodyPr/>
                    <a:lstStyle/>
                    <a:p>
                      <a:r>
                        <a:rPr sz="1400" b="0" i="0">
                          <a:solidFill>
                            <a:srgbClr val="000000"/>
                          </a:solidFill>
                          <a:latin typeface="Arial"/>
                        </a:rPr>
                        <a:t>ESM C</a:t>
                      </a:r>
                    </a:p>
                  </a:txBody>
                  <a:tcPr>
                    <a:solidFill>
                      <a:srgbClr val="E8EEF5"/>
                    </a:solidFill>
                  </a:tcPr>
                </a:tc>
                <a:tc>
                  <a:txBody>
                    <a:bodyPr/>
                    <a:lstStyle/>
                    <a:p>
                      <a:r>
                        <a:rPr sz="1400" b="0" i="0">
                          <a:solidFill>
                            <a:srgbClr val="000000"/>
                          </a:solidFill>
                          <a:latin typeface="Arial"/>
                        </a:rPr>
                        <a:t>300M · 600M</a:t>
                      </a:r>
                    </a:p>
                  </a:txBody>
                  <a:tcPr>
                    <a:solidFill>
                      <a:srgbClr val="E8EEF5"/>
                    </a:solidFill>
                  </a:tcPr>
                </a:tc>
                <a:tc>
                  <a:txBody>
                    <a:bodyPr/>
                    <a:lstStyle/>
                    <a:p>
                      <a:r>
                        <a:rPr sz="1400" b="0" i="0">
                          <a:solidFill>
                            <a:srgbClr val="000000"/>
                          </a:solidFill>
                          <a:latin typeface="Arial"/>
                        </a:rPr>
                        <a:t>960 · 1152</a:t>
                      </a:r>
                    </a:p>
                  </a:txBody>
                  <a:tcPr>
                    <a:solidFill>
                      <a:srgbClr val="E8EEF5"/>
                    </a:solidFill>
                  </a:tcPr>
                </a:tc>
              </a:tr>
              <a:tr h="400000">
                <a:tc>
                  <a:txBody>
                    <a:bodyPr/>
                    <a:lstStyle/>
                    <a:p>
                      <a:r>
                        <a:rPr sz="1400" b="0" i="0">
                          <a:solidFill>
                            <a:srgbClr val="000000"/>
                          </a:solidFill>
                          <a:latin typeface="Arial"/>
                        </a:rPr>
                        <a:t>Ankh</a:t>
                      </a:r>
                    </a:p>
                  </a:txBody>
                  <a:tcPr>
                    <a:solidFill>
                      <a:srgbClr val="FFFFFF"/>
                    </a:solidFill>
                  </a:tcPr>
                </a:tc>
                <a:tc>
                  <a:txBody>
                    <a:bodyPr/>
                    <a:lstStyle/>
                    <a:p>
                      <a:r>
                        <a:rPr sz="1400" b="0" i="0">
                          <a:solidFill>
                            <a:srgbClr val="000000"/>
                          </a:solidFill>
                          <a:latin typeface="Arial"/>
                        </a:rPr>
                        <a:t>base · large · Ankh3-large</a:t>
                      </a:r>
                    </a:p>
                  </a:txBody>
                  <a:tcPr>
                    <a:solidFill>
                      <a:srgbClr val="FFFFFF"/>
                    </a:solidFill>
                  </a:tcPr>
                </a:tc>
                <a:tc>
                  <a:txBody>
                    <a:bodyPr/>
                    <a:lstStyle/>
                    <a:p>
                      <a:r>
                        <a:rPr sz="1400" b="0" i="0">
                          <a:solidFill>
                            <a:srgbClr val="000000"/>
                          </a:solidFill>
                          <a:latin typeface="Arial"/>
                        </a:rPr>
                        <a:t>768 · 1536</a:t>
                      </a:r>
                    </a:p>
                  </a:txBody>
                  <a:tcPr>
                    <a:solidFill>
                      <a:srgbClr val="FFFFFF"/>
                    </a:solidFill>
                  </a:tcPr>
                </a:tc>
              </a:tr>
            </a:tbl>
          </a:graphicData>
        </a:graphic>
      </p:graphicFrame>
      <p:sp>
        <p:nvSpPr>
          <p:cNvPr id="7" name="Rounded Rectangle 6"/>
          <p:cNvSpPr/>
          <p:nvPr/>
        </p:nvSpPr>
        <p:spPr>
          <a:xfrm>
            <a:off x="5911760" y="1150000"/>
            <a:ext cx="2918320" cy="600000"/>
          </a:xfrm>
          <a:prstGeom prst="roundRect">
            <a:avLst>
              <a:gd name="adj" fmla="val 12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0" rIns="64000"/>
          <a:lstStyle/>
          <a:p>
            <a:pPr algn="ctr"/>
            <a:r>
              <a:rPr sz="1500" b="1" i="0">
                <a:solidFill>
                  <a:srgbClr val="000000"/>
                </a:solidFill>
                <a:latin typeface="Arial"/>
              </a:rPr>
              <a:t>Distance</a:t>
            </a:r>
          </a:p>
          <a:p>
            <a:pPr algn="ctr"/>
            <a:r>
              <a:rPr sz="1400" b="0" i="0">
                <a:solidFill>
                  <a:srgbClr val="000000"/>
                </a:solidFill>
                <a:latin typeface="Arial"/>
              </a:rPr>
              <a:t>Euclidean · cosine</a:t>
            </a:r>
          </a:p>
        </p:txBody>
      </p:sp>
      <p:sp>
        <p:nvSpPr>
          <p:cNvPr id="8" name="Rounded Rectangle 7"/>
          <p:cNvSpPr/>
          <p:nvPr/>
        </p:nvSpPr>
        <p:spPr>
          <a:xfrm>
            <a:off x="5911760" y="1850000"/>
            <a:ext cx="2918320" cy="600000"/>
          </a:xfrm>
          <a:prstGeom prst="roundRect">
            <a:avLst>
              <a:gd name="adj" fmla="val 12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0" rIns="64000"/>
          <a:lstStyle/>
          <a:p>
            <a:pPr algn="ctr"/>
            <a:r>
              <a:rPr sz="1500" b="1" i="0">
                <a:solidFill>
                  <a:srgbClr val="000000"/>
                </a:solidFill>
                <a:latin typeface="Arial"/>
              </a:rPr>
              <a:t>Tasks</a:t>
            </a:r>
          </a:p>
          <a:p>
            <a:pPr algn="ctr"/>
            <a:r>
              <a:rPr sz="1400" b="0" i="0">
                <a:solidFill>
                  <a:srgbClr val="000000"/>
                </a:solidFill>
                <a:latin typeface="Arial"/>
              </a:rPr>
              <a:t>CATH C/A/T/H · EC 1–4</a:t>
            </a:r>
          </a:p>
        </p:txBody>
      </p:sp>
      <p:sp>
        <p:nvSpPr>
          <p:cNvPr id="9" name="Rounded Rectangle 8"/>
          <p:cNvSpPr/>
          <p:nvPr/>
        </p:nvSpPr>
        <p:spPr>
          <a:xfrm>
            <a:off x="5911760" y="2550000"/>
            <a:ext cx="2918320" cy="600000"/>
          </a:xfrm>
          <a:prstGeom prst="roundRect">
            <a:avLst>
              <a:gd name="adj" fmla="val 12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0" rIns="64000"/>
          <a:lstStyle/>
          <a:p>
            <a:pPr algn="ctr"/>
            <a:r>
              <a:rPr sz="1500" b="1" i="0">
                <a:solidFill>
                  <a:srgbClr val="000000"/>
                </a:solidFill>
                <a:latin typeface="Arial"/>
              </a:rPr>
              <a:t>Baseline</a:t>
            </a:r>
          </a:p>
          <a:p>
            <a:pPr algn="ctr"/>
            <a:r>
              <a:rPr sz="1400" b="0" i="0">
                <a:solidFill>
                  <a:srgbClr val="000000"/>
                </a:solidFill>
                <a:latin typeface="Arial"/>
              </a:rPr>
              <a:t>best MMseqs2 hit</a:t>
            </a:r>
          </a:p>
        </p:txBody>
      </p:sp>
      <p:sp>
        <p:nvSpPr>
          <p:cNvPr id="10" name="TextBox 9"/>
          <p:cNvSpPr txBox="1"/>
          <p:nvPr/>
        </p:nvSpPr>
        <p:spPr>
          <a:xfrm>
            <a:off x="311760" y="3500000"/>
            <a:ext cx="8518320" cy="700000"/>
          </a:xfrm>
          <a:prstGeom prst="rect">
            <a:avLst/>
          </a:prstGeom>
          <a:noFill/>
        </p:spPr>
        <p:txBody>
          <a:bodyPr wrap="square" anchor="t" lIns="45720" rIns="45720">
            <a:spAutoFit/>
          </a:bodyPr>
          <a:lstStyle/>
          <a:p>
            <a:pPr algn="l">
              <a:spcAft>
                <a:spcPts val="600"/>
              </a:spcAft>
            </a:pPr>
            <a:r>
              <a:rPr sz="1500" b="0" i="0">
                <a:solidFill>
                  <a:srgbClr val="595959"/>
                </a:solidFill>
                <a:latin typeface="Arial"/>
              </a:rPr>
              <a:t>Accuracy per level with confidence intervals, binned by sequence identity to the lookup set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0" i="0">
                <a:solidFill>
                  <a:srgbClr val="000000"/>
                </a:solidFill>
                <a:latin typeface="Arial"/>
              </a:rPr>
              <a:t>Data: CATH is ready-made, the EC set we must build</a:t>
            </a:r>
          </a:p>
        </p:txBody>
      </p:sp>
      <p:sp>
        <p:nvSpPr>
          <p:cNvPr id="3" name="Content Placeholder 2"/>
          <p:cNvSpPr>
            <a:spLocks noGrp="1"/>
          </p:cNvSpPr>
          <p:nvPr>
            <p:ph/>
          </p:nvPr>
        </p:nvSpPr>
        <p:spPr/>
        <p:txBody>
          <a:bodyPr/>
          <a:lstStyle/>
          <a:p/>
        </p:txBody>
      </p:sp>
      <p:sp>
        <p:nvSpPr>
          <p:cNvPr id="4" name="PlaceHolder 3"/>
          <p:cNvSpPr>
            <a:spLocks noGrp="1"/>
          </p:cNvSpPr>
          <p:nvPr>
            <p:ph type="sldNum" idx="4"/>
          </p:nvPr>
        </p:nvSpPr>
        <p:spPr/>
        <p:txBody>
          <a:bodyPr/>
          <a:p>
            <a:fld id="{022DDFD0-1DF1-4F6A-9B35-C12DB353A077}" type="slidenum">
              <a:t>3</a:t>
            </a:fld>
          </a:p>
        </p:txBody>
      </p:sp>
      <p:sp>
        <p:nvSpPr>
          <p:cNvPr id="5" name="TextBox 4"/>
          <p:cNvSpPr txBox="1"/>
          <p:nvPr/>
        </p:nvSpPr>
        <p:spPr>
          <a:xfrm>
            <a:off x="228600" y="4600000"/>
            <a:ext cx="7400000" cy="500000"/>
          </a:xfrm>
          <a:prstGeom prst="rect">
            <a:avLst/>
          </a:prstGeom>
          <a:noFill/>
        </p:spPr>
        <p:txBody>
          <a:bodyPr wrap="square" anchor="t" lIns="45720" rIns="45720">
            <a:spAutoFit/>
          </a:bodyPr>
          <a:lstStyle/>
          <a:p>
            <a:pPr algn="l">
              <a:spcAft>
                <a:spcPts val="0"/>
              </a:spcAft>
            </a:pPr>
            <a:r>
              <a:rPr sz="800" b="0" i="0">
                <a:solidFill>
                  <a:srgbClr val="595959"/>
                </a:solidFill>
                <a:latin typeface="Arial"/>
              </a:rPr>
              <a:t>[3] Heinzinger … Rost (2022).  [6] Mahlich … Bromberg (2018).  CATH v4.4: download.cathdb.info.  EAT code: github.com/Rostlab/EAT</a:t>
            </a:r>
          </a:p>
        </p:txBody>
      </p:sp>
      <p:sp>
        <p:nvSpPr>
          <p:cNvPr id="6" name="TextBox 5"/>
          <p:cNvSpPr txBox="1"/>
          <p:nvPr/>
        </p:nvSpPr>
        <p:spPr>
          <a:xfrm>
            <a:off x="311760" y="1150000"/>
            <a:ext cx="2700000" cy="350000"/>
          </a:xfrm>
          <a:prstGeom prst="rect">
            <a:avLst/>
          </a:prstGeom>
          <a:noFill/>
        </p:spPr>
        <p:txBody>
          <a:bodyPr wrap="square" anchor="t" lIns="45720" rIns="45720">
            <a:spAutoFit/>
          </a:bodyPr>
          <a:lstStyle/>
          <a:p>
            <a:pPr algn="l">
              <a:spcAft>
                <a:spcPts val="600"/>
              </a:spcAft>
            </a:pPr>
            <a:r>
              <a:rPr sz="1700" b="1" i="0">
                <a:solidFill>
                  <a:srgbClr val="0065BD"/>
                </a:solidFill>
                <a:latin typeface="Arial"/>
              </a:rPr>
              <a:t>CATH  (structure)</a:t>
            </a:r>
          </a:p>
        </p:txBody>
      </p:sp>
      <p:sp>
        <p:nvSpPr>
          <p:cNvPr id="7" name="TextBox 6"/>
          <p:cNvSpPr txBox="1"/>
          <p:nvPr/>
        </p:nvSpPr>
        <p:spPr>
          <a:xfrm>
            <a:off x="311760" y="1600000"/>
            <a:ext cx="2700000" cy="2700000"/>
          </a:xfrm>
          <a:prstGeom prst="rect">
            <a:avLst/>
          </a:prstGeom>
          <a:noFill/>
        </p:spPr>
        <p:txBody>
          <a:bodyPr wrap="square" anchor="t" lIns="45720" rIns="45720">
            <a:spAutoFit/>
          </a:bodyPr>
          <a:lstStyle/>
          <a:p>
            <a:pPr algn="l">
              <a:spcAft>
                <a:spcPts val="1200"/>
              </a:spcAft>
            </a:pPr>
            <a:r>
              <a:rPr sz="1500" b="0" i="0">
                <a:solidFill>
                  <a:srgbClr val="000000"/>
                </a:solidFill>
                <a:latin typeface="Arial"/>
              </a:rPr>
              <a:t>• ProtTucker benchmark: test219 vs lookup69k [3]</a:t>
            </a:r>
          </a:p>
          <a:p>
            <a:pPr algn="l">
              <a:spcAft>
                <a:spcPts val="1200"/>
              </a:spcAft>
            </a:pPr>
            <a:r>
              <a:rPr sz="1500" b="0" i="0">
                <a:solidFill>
                  <a:srgbClr val="000000"/>
                </a:solidFill>
                <a:latin typeface="Arial"/>
              </a:rPr>
              <a:t>• Then non-redundant CATH v4.4 sets</a:t>
            </a:r>
          </a:p>
          <a:p>
            <a:pPr algn="l">
              <a:spcAft>
                <a:spcPts val="1200"/>
              </a:spcAft>
            </a:pPr>
            <a:r>
              <a:rPr sz="1500" b="0" i="0">
                <a:solidFill>
                  <a:srgbClr val="000000"/>
                </a:solidFill>
                <a:latin typeface="Arial"/>
              </a:rPr>
              <a:t>• Pitfall: CATH-S100 lookup contains test219</a:t>
            </a:r>
          </a:p>
        </p:txBody>
      </p:sp>
      <p:sp>
        <p:nvSpPr>
          <p:cNvPr id="8" name="TextBox 7"/>
          <p:cNvSpPr txBox="1"/>
          <p:nvPr/>
        </p:nvSpPr>
        <p:spPr>
          <a:xfrm>
            <a:off x="3220920" y="1150000"/>
            <a:ext cx="2700000" cy="350000"/>
          </a:xfrm>
          <a:prstGeom prst="rect">
            <a:avLst/>
          </a:prstGeom>
          <a:noFill/>
        </p:spPr>
        <p:txBody>
          <a:bodyPr wrap="square" anchor="t" lIns="45720" rIns="45720">
            <a:spAutoFit/>
          </a:bodyPr>
          <a:lstStyle/>
          <a:p>
            <a:pPr algn="l">
              <a:spcAft>
                <a:spcPts val="600"/>
              </a:spcAft>
            </a:pPr>
            <a:r>
              <a:rPr sz="1700" b="1" i="0">
                <a:solidFill>
                  <a:srgbClr val="0065BD"/>
                </a:solidFill>
                <a:latin typeface="Arial"/>
              </a:rPr>
              <a:t>EC  (function)</a:t>
            </a:r>
          </a:p>
        </p:txBody>
      </p:sp>
      <p:sp>
        <p:nvSpPr>
          <p:cNvPr id="9" name="TextBox 8"/>
          <p:cNvSpPr txBox="1"/>
          <p:nvPr/>
        </p:nvSpPr>
        <p:spPr>
          <a:xfrm>
            <a:off x="3220920" y="1600000"/>
            <a:ext cx="2700000" cy="2700000"/>
          </a:xfrm>
          <a:prstGeom prst="rect">
            <a:avLst/>
          </a:prstGeom>
          <a:noFill/>
        </p:spPr>
        <p:txBody>
          <a:bodyPr wrap="square" anchor="t" lIns="45720" rIns="45720">
            <a:spAutoFit/>
          </a:bodyPr>
          <a:lstStyle/>
          <a:p>
            <a:pPr algn="l">
              <a:spcAft>
                <a:spcPts val="1200"/>
              </a:spcAft>
            </a:pPr>
            <a:r>
              <a:rPr sz="1500" b="0" i="0">
                <a:solidFill>
                  <a:srgbClr val="000000"/>
                </a:solidFill>
                <a:latin typeface="Arial"/>
              </a:rPr>
              <a:t>• No ready-made split</a:t>
            </a:r>
          </a:p>
          <a:p>
            <a:pPr algn="l">
              <a:spcAft>
                <a:spcPts val="1200"/>
              </a:spcAft>
            </a:pPr>
            <a:r>
              <a:rPr sz="1500" b="0" i="0">
                <a:solidFill>
                  <a:srgbClr val="000000"/>
                </a:solidFill>
                <a:latin typeface="Arial"/>
              </a:rPr>
              <a:t>• UniProt: 48,401 entries with experimental activity</a:t>
            </a:r>
          </a:p>
          <a:p>
            <a:pPr algn="l">
              <a:spcAft>
                <a:spcPts val="1200"/>
              </a:spcAft>
            </a:pPr>
            <a:r>
              <a:rPr sz="1500" b="0" i="0">
                <a:solidFill>
                  <a:srgbClr val="000000"/>
                </a:solidFill>
                <a:latin typeface="Arial"/>
              </a:rPr>
              <a:t>• HFSP set: 7,022 enzymes [6]</a:t>
            </a:r>
          </a:p>
        </p:txBody>
      </p:sp>
      <p:sp>
        <p:nvSpPr>
          <p:cNvPr id="10" name="TextBox 9"/>
          <p:cNvSpPr txBox="1"/>
          <p:nvPr/>
        </p:nvSpPr>
        <p:spPr>
          <a:xfrm>
            <a:off x="6130080" y="1150000"/>
            <a:ext cx="2700000" cy="350000"/>
          </a:xfrm>
          <a:prstGeom prst="rect">
            <a:avLst/>
          </a:prstGeom>
          <a:noFill/>
        </p:spPr>
        <p:txBody>
          <a:bodyPr wrap="square" anchor="t" lIns="45720" rIns="45720">
            <a:spAutoFit/>
          </a:bodyPr>
          <a:lstStyle/>
          <a:p>
            <a:pPr algn="l">
              <a:spcAft>
                <a:spcPts val="600"/>
              </a:spcAft>
            </a:pPr>
            <a:r>
              <a:rPr sz="1700" b="1" i="0">
                <a:solidFill>
                  <a:srgbClr val="0065BD"/>
                </a:solidFill>
                <a:latin typeface="Arial"/>
              </a:rPr>
              <a:t>Embeddings</a:t>
            </a:r>
          </a:p>
        </p:txBody>
      </p:sp>
      <p:sp>
        <p:nvSpPr>
          <p:cNvPr id="11" name="TextBox 10"/>
          <p:cNvSpPr txBox="1"/>
          <p:nvPr/>
        </p:nvSpPr>
        <p:spPr>
          <a:xfrm>
            <a:off x="6130080" y="1600000"/>
            <a:ext cx="2700000" cy="2700000"/>
          </a:xfrm>
          <a:prstGeom prst="rect">
            <a:avLst/>
          </a:prstGeom>
          <a:noFill/>
        </p:spPr>
        <p:txBody>
          <a:bodyPr wrap="square" anchor="t" lIns="45720" rIns="45720">
            <a:spAutoFit/>
          </a:bodyPr>
          <a:lstStyle/>
          <a:p>
            <a:pPr algn="l">
              <a:spcAft>
                <a:spcPts val="1200"/>
              </a:spcAft>
            </a:pPr>
            <a:r>
              <a:rPr sz="1500" b="0" i="0">
                <a:solidFill>
                  <a:srgbClr val="000000"/>
                </a:solidFill>
                <a:latin typeface="Arial"/>
              </a:rPr>
              <a:t>• ProtSpace notebook (all but ESM-2 3B)</a:t>
            </a:r>
          </a:p>
          <a:p>
            <a:pPr algn="l">
              <a:spcAft>
                <a:spcPts val="1200"/>
              </a:spcAft>
            </a:pPr>
            <a:r>
              <a:rPr sz="1500" b="0" i="0">
                <a:solidFill>
                  <a:srgbClr val="000000"/>
                </a:solidFill>
                <a:latin typeface="Arial"/>
              </a:rPr>
              <a:t>• ESM-2 3B via HF transformers</a:t>
            </a:r>
          </a:p>
          <a:p>
            <a:pPr algn="l">
              <a:spcAft>
                <a:spcPts val="1200"/>
              </a:spcAft>
            </a:pPr>
            <a:r>
              <a:rPr sz="1500" b="0" i="0">
                <a:solidFill>
                  <a:srgbClr val="000000"/>
                </a:solidFill>
                <a:latin typeface="Arial"/>
              </a:rPr>
              <a:t>• EC lookup = compute bottleneck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0" i="0">
                <a:solidFill>
                  <a:srgbClr val="000000"/>
                </a:solidFill>
                <a:latin typeface="Arial"/>
              </a:rPr>
              <a:t>Protocol: tune on calibration data, report on test data</a:t>
            </a:r>
          </a:p>
        </p:txBody>
      </p:sp>
      <p:sp>
        <p:nvSpPr>
          <p:cNvPr id="3" name="Content Placeholder 2"/>
          <p:cNvSpPr>
            <a:spLocks noGrp="1"/>
          </p:cNvSpPr>
          <p:nvPr>
            <p:ph/>
          </p:nvPr>
        </p:nvSpPr>
        <p:spPr/>
        <p:txBody>
          <a:bodyPr/>
          <a:lstStyle/>
          <a:p/>
        </p:txBody>
      </p:sp>
      <p:sp>
        <p:nvSpPr>
          <p:cNvPr id="4" name="PlaceHolder 3"/>
          <p:cNvSpPr>
            <a:spLocks noGrp="1"/>
          </p:cNvSpPr>
          <p:nvPr>
            <p:ph type="sldNum" idx="4"/>
          </p:nvPr>
        </p:nvSpPr>
        <p:spPr/>
        <p:txBody>
          <a:bodyPr/>
          <a:p>
            <a:fld id="{022DDFD0-1DF1-4F6A-9B35-C12DB353A077}" type="slidenum">
              <a:t>3</a:t>
            </a:fld>
          </a:p>
        </p:txBody>
      </p:sp>
      <p:sp>
        <p:nvSpPr>
          <p:cNvPr id="5" name="Rounded Rectangle 4"/>
          <p:cNvSpPr/>
          <p:nvPr/>
        </p:nvSpPr>
        <p:spPr>
          <a:xfrm>
            <a:off x="311760" y="1150000"/>
            <a:ext cx="2600000" cy="750000"/>
          </a:xfrm>
          <a:prstGeom prst="roundRect">
            <a:avLst>
              <a:gd name="adj" fmla="val 12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0" rIns="64000"/>
          <a:lstStyle/>
          <a:p>
            <a:pPr algn="ctr"/>
            <a:r>
              <a:rPr sz="1500" b="1" i="0">
                <a:solidFill>
                  <a:srgbClr val="000000"/>
                </a:solidFill>
                <a:latin typeface="Arial"/>
              </a:rPr>
              <a:t>Lookup</a:t>
            </a:r>
          </a:p>
          <a:p>
            <a:pPr algn="ctr"/>
            <a:r>
              <a:rPr sz="1400" b="0" i="0">
                <a:solidFill>
                  <a:srgbClr val="000000"/>
                </a:solidFill>
                <a:latin typeface="Arial"/>
              </a:rPr>
              <a:t>labelled proteins to transfer from</a:t>
            </a:r>
          </a:p>
        </p:txBody>
      </p:sp>
      <p:sp>
        <p:nvSpPr>
          <p:cNvPr id="6" name="Rounded Rectangle 5"/>
          <p:cNvSpPr/>
          <p:nvPr/>
        </p:nvSpPr>
        <p:spPr>
          <a:xfrm>
            <a:off x="3270920" y="1150000"/>
            <a:ext cx="2600000" cy="750000"/>
          </a:xfrm>
          <a:prstGeom prst="roundRect">
            <a:avLst>
              <a:gd name="adj" fmla="val 12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0" rIns="64000"/>
          <a:lstStyle/>
          <a:p>
            <a:pPr algn="ctr"/>
            <a:r>
              <a:rPr sz="1500" b="1" i="0">
                <a:solidFill>
                  <a:srgbClr val="000000"/>
                </a:solidFill>
                <a:latin typeface="Arial"/>
              </a:rPr>
              <a:t>Calibration</a:t>
            </a:r>
          </a:p>
          <a:p>
            <a:pPr algn="ctr"/>
            <a:r>
              <a:rPr sz="1400" b="0" i="0">
                <a:solidFill>
                  <a:srgbClr val="000000"/>
                </a:solidFill>
                <a:latin typeface="Arial"/>
              </a:rPr>
              <a:t>choose settings, fit thresholds + score</a:t>
            </a:r>
          </a:p>
        </p:txBody>
      </p:sp>
      <p:sp>
        <p:nvSpPr>
          <p:cNvPr id="7" name="Rounded Rectangle 6"/>
          <p:cNvSpPr/>
          <p:nvPr/>
        </p:nvSpPr>
        <p:spPr>
          <a:xfrm>
            <a:off x="6230080" y="1150000"/>
            <a:ext cx="2600000" cy="750000"/>
          </a:xfrm>
          <a:prstGeom prst="roundRect">
            <a:avLst>
              <a:gd name="adj" fmla="val 12000"/>
            </a:avLst>
          </a:prstGeom>
          <a:solidFill>
            <a:srgbClr val="E8EEF5"/>
          </a:solidFill>
          <a:ln w="25400">
            <a:solidFill>
              <a:srgbClr val="E37222"/>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0" rIns="64000"/>
          <a:lstStyle/>
          <a:p>
            <a:pPr algn="ctr"/>
            <a:r>
              <a:rPr sz="1500" b="1" i="0">
                <a:solidFill>
                  <a:srgbClr val="000000"/>
                </a:solidFill>
                <a:latin typeface="Arial"/>
              </a:rPr>
              <a:t>Test</a:t>
            </a:r>
          </a:p>
          <a:p>
            <a:pPr algn="ctr"/>
            <a:r>
              <a:rPr sz="1400" b="0" i="0">
                <a:solidFill>
                  <a:srgbClr val="000000"/>
                </a:solidFill>
                <a:latin typeface="Arial"/>
              </a:rPr>
              <a:t>touched once: final numbers</a:t>
            </a:r>
          </a:p>
        </p:txBody>
      </p:sp>
      <p:sp>
        <p:nvSpPr>
          <p:cNvPr id="8" name="TextBox 7"/>
          <p:cNvSpPr txBox="1"/>
          <p:nvPr/>
        </p:nvSpPr>
        <p:spPr>
          <a:xfrm>
            <a:off x="311760" y="2150000"/>
            <a:ext cx="2200000" cy="600000"/>
          </a:xfrm>
          <a:prstGeom prst="rect">
            <a:avLst/>
          </a:prstGeom>
          <a:noFill/>
        </p:spPr>
        <p:txBody>
          <a:bodyPr wrap="square" anchor="ctr" lIns="45720" rIns="45720">
            <a:spAutoFit/>
          </a:bodyPr>
          <a:lstStyle/>
          <a:p>
            <a:pPr algn="l">
              <a:spcAft>
                <a:spcPts val="600"/>
              </a:spcAft>
            </a:pPr>
            <a:r>
              <a:rPr sz="1600" b="1" i="0">
                <a:solidFill>
                  <a:srgbClr val="0065BD"/>
                </a:solidFill>
                <a:latin typeface="Arial"/>
              </a:rPr>
              <a:t>1  Accuracy</a:t>
            </a:r>
          </a:p>
        </p:txBody>
      </p:sp>
      <p:sp>
        <p:nvSpPr>
          <p:cNvPr id="9" name="TextBox 8"/>
          <p:cNvSpPr txBox="1"/>
          <p:nvPr/>
        </p:nvSpPr>
        <p:spPr>
          <a:xfrm>
            <a:off x="2511760" y="2150000"/>
            <a:ext cx="6318320" cy="600000"/>
          </a:xfrm>
          <a:prstGeom prst="rect">
            <a:avLst/>
          </a:prstGeom>
          <a:noFill/>
        </p:spPr>
        <p:txBody>
          <a:bodyPr wrap="square" anchor="ctr" lIns="45720" rIns="45720">
            <a:spAutoFit/>
          </a:bodyPr>
          <a:lstStyle/>
          <a:p>
            <a:pPr algn="l">
              <a:spcAft>
                <a:spcPts val="600"/>
              </a:spcAft>
            </a:pPr>
            <a:r>
              <a:rPr sz="1500" b="0" i="0">
                <a:solidFill>
                  <a:srgbClr val="000000"/>
                </a:solidFill>
                <a:latin typeface="Arial"/>
              </a:rPr>
              <a:t>per level, bootstrap 95 % CI, binned by sequence identity, vs MMseqs2</a:t>
            </a:r>
          </a:p>
        </p:txBody>
      </p:sp>
      <p:sp>
        <p:nvSpPr>
          <p:cNvPr id="10" name="TextBox 9"/>
          <p:cNvSpPr txBox="1"/>
          <p:nvPr/>
        </p:nvSpPr>
        <p:spPr>
          <a:xfrm>
            <a:off x="311760" y="2800000"/>
            <a:ext cx="2200000" cy="600000"/>
          </a:xfrm>
          <a:prstGeom prst="rect">
            <a:avLst/>
          </a:prstGeom>
          <a:noFill/>
        </p:spPr>
        <p:txBody>
          <a:bodyPr wrap="square" anchor="ctr" lIns="45720" rIns="45720">
            <a:spAutoFit/>
          </a:bodyPr>
          <a:lstStyle/>
          <a:p>
            <a:pPr algn="l">
              <a:spcAft>
                <a:spcPts val="600"/>
              </a:spcAft>
            </a:pPr>
            <a:r>
              <a:rPr sz="1600" b="1" i="0">
                <a:solidFill>
                  <a:srgbClr val="0065BD"/>
                </a:solidFill>
                <a:latin typeface="Arial"/>
              </a:rPr>
              <a:t>2  Safe distance</a:t>
            </a:r>
          </a:p>
        </p:txBody>
      </p:sp>
      <p:sp>
        <p:nvSpPr>
          <p:cNvPr id="11" name="TextBox 10"/>
          <p:cNvSpPr txBox="1"/>
          <p:nvPr/>
        </p:nvSpPr>
        <p:spPr>
          <a:xfrm>
            <a:off x="2511760" y="2800000"/>
            <a:ext cx="6318320" cy="600000"/>
          </a:xfrm>
          <a:prstGeom prst="rect">
            <a:avLst/>
          </a:prstGeom>
          <a:noFill/>
        </p:spPr>
        <p:txBody>
          <a:bodyPr wrap="square" anchor="ctr" lIns="45720" rIns="45720">
            <a:spAutoFit/>
          </a:bodyPr>
          <a:lstStyle/>
          <a:p>
            <a:pPr algn="l">
              <a:spcAft>
                <a:spcPts val="600"/>
              </a:spcAft>
            </a:pPr>
            <a:r>
              <a:rPr sz="1500" b="0" i="0">
                <a:solidFill>
                  <a:srgbClr val="000000"/>
                </a:solidFill>
                <a:latin typeface="Arial"/>
              </a:rPr>
              <a:t>largest d with precision ≥ 95 % on calibration → checked on test</a:t>
            </a:r>
          </a:p>
        </p:txBody>
      </p:sp>
      <p:sp>
        <p:nvSpPr>
          <p:cNvPr id="12" name="TextBox 11"/>
          <p:cNvSpPr txBox="1"/>
          <p:nvPr/>
        </p:nvSpPr>
        <p:spPr>
          <a:xfrm>
            <a:off x="311760" y="3450000"/>
            <a:ext cx="2200000" cy="600000"/>
          </a:xfrm>
          <a:prstGeom prst="rect">
            <a:avLst/>
          </a:prstGeom>
          <a:noFill/>
        </p:spPr>
        <p:txBody>
          <a:bodyPr wrap="square" anchor="ctr" lIns="45720" rIns="45720">
            <a:spAutoFit/>
          </a:bodyPr>
          <a:lstStyle/>
          <a:p>
            <a:pPr algn="l">
              <a:spcAft>
                <a:spcPts val="600"/>
              </a:spcAft>
            </a:pPr>
            <a:r>
              <a:rPr sz="1600" b="1" i="0">
                <a:solidFill>
                  <a:srgbClr val="0065BD"/>
                </a:solidFill>
                <a:latin typeface="Arial"/>
              </a:rPr>
              <a:t>3  Reliability</a:t>
            </a:r>
          </a:p>
        </p:txBody>
      </p:sp>
      <p:sp>
        <p:nvSpPr>
          <p:cNvPr id="13" name="TextBox 12"/>
          <p:cNvSpPr txBox="1"/>
          <p:nvPr/>
        </p:nvSpPr>
        <p:spPr>
          <a:xfrm>
            <a:off x="2511760" y="3450000"/>
            <a:ext cx="6318320" cy="600000"/>
          </a:xfrm>
          <a:prstGeom prst="rect">
            <a:avLst/>
          </a:prstGeom>
          <a:noFill/>
        </p:spPr>
        <p:txBody>
          <a:bodyPr wrap="square" anchor="ctr" lIns="45720" rIns="45720">
            <a:spAutoFit/>
          </a:bodyPr>
          <a:lstStyle/>
          <a:p>
            <a:pPr algn="l">
              <a:spcAft>
                <a:spcPts val="600"/>
              </a:spcAft>
            </a:pPr>
            <a:r>
              <a:rPr sz="1500" b="0" i="0">
                <a:solidFill>
                  <a:srgbClr val="000000"/>
                </a:solidFill>
                <a:latin typeface="Arial"/>
              </a:rPr>
              <a:t>distance → calibrated probability (e.g. isotonic), same meaning for every pLM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0" i="0">
                <a:solidFill>
                  <a:srgbClr val="000000"/>
                </a:solidFill>
                <a:latin typeface="Arial"/>
              </a:rPr>
              <a:t>Plan: reproduce first, then freeze the protocol, then scale</a:t>
            </a:r>
          </a:p>
        </p:txBody>
      </p:sp>
      <p:sp>
        <p:nvSpPr>
          <p:cNvPr id="3" name="Content Placeholder 2"/>
          <p:cNvSpPr>
            <a:spLocks noGrp="1"/>
          </p:cNvSpPr>
          <p:nvPr>
            <p:ph/>
          </p:nvPr>
        </p:nvSpPr>
        <p:spPr/>
        <p:txBody>
          <a:bodyPr/>
          <a:lstStyle/>
          <a:p/>
        </p:txBody>
      </p:sp>
      <p:sp>
        <p:nvSpPr>
          <p:cNvPr id="4" name="PlaceHolder 3"/>
          <p:cNvSpPr>
            <a:spLocks noGrp="1"/>
          </p:cNvSpPr>
          <p:nvPr>
            <p:ph type="sldNum" idx="4"/>
          </p:nvPr>
        </p:nvSpPr>
        <p:spPr/>
        <p:txBody>
          <a:bodyPr/>
          <a:p>
            <a:fld id="{022DDFD0-1DF1-4F6A-9B35-C12DB353A077}" type="slidenum">
              <a:t>3</a:t>
            </a:fld>
          </a:p>
        </p:txBody>
      </p:sp>
      <p:cxnSp>
        <p:nvCxnSpPr>
          <p:cNvPr id="5" name="Connector 4"/>
          <p:cNvCxnSpPr/>
          <p:nvPr/>
        </p:nvCxnSpPr>
        <p:spPr>
          <a:xfrm>
            <a:off x="1163592" y="1650000"/>
            <a:ext cx="6814656" cy="0"/>
          </a:xfrm>
          <a:prstGeom prst="line">
            <a:avLst/>
          </a:prstGeom>
          <a:ln w="25400">
            <a:solidFill>
              <a:srgbClr val="595959"/>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053592" y="1540000"/>
            <a:ext cx="220000" cy="220000"/>
          </a:xfrm>
          <a:prstGeom prst="ellipse">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1760" y="1150000"/>
            <a:ext cx="1703664" cy="350000"/>
          </a:xfrm>
          <a:prstGeom prst="rect">
            <a:avLst/>
          </a:prstGeom>
          <a:noFill/>
        </p:spPr>
        <p:txBody>
          <a:bodyPr wrap="square" anchor="t" lIns="45720" rIns="45720">
            <a:spAutoFit/>
          </a:bodyPr>
          <a:lstStyle/>
          <a:p>
            <a:pPr algn="ctr">
              <a:spcAft>
                <a:spcPts val="600"/>
              </a:spcAft>
            </a:pPr>
            <a:r>
              <a:rPr sz="1500" b="1" i="0">
                <a:solidFill>
                  <a:srgbClr val="000000"/>
                </a:solidFill>
                <a:latin typeface="Arial"/>
              </a:rPr>
              <a:t>02.11</a:t>
            </a:r>
          </a:p>
        </p:txBody>
      </p:sp>
      <p:sp>
        <p:nvSpPr>
          <p:cNvPr id="8" name="TextBox 7"/>
          <p:cNvSpPr txBox="1"/>
          <p:nvPr/>
        </p:nvSpPr>
        <p:spPr>
          <a:xfrm>
            <a:off x="311760" y="1830000"/>
            <a:ext cx="1703664" cy="350000"/>
          </a:xfrm>
          <a:prstGeom prst="rect">
            <a:avLst/>
          </a:prstGeom>
          <a:noFill/>
        </p:spPr>
        <p:txBody>
          <a:bodyPr wrap="square" anchor="t" lIns="45720" rIns="45720">
            <a:spAutoFit/>
          </a:bodyPr>
          <a:lstStyle/>
          <a:p>
            <a:pPr algn="ctr">
              <a:spcAft>
                <a:spcPts val="600"/>
              </a:spcAft>
            </a:pPr>
            <a:r>
              <a:rPr sz="1500" b="1" i="0">
                <a:solidFill>
                  <a:srgbClr val="000000"/>
                </a:solidFill>
                <a:latin typeface="Arial"/>
              </a:rPr>
              <a:t>Pitch</a:t>
            </a:r>
          </a:p>
        </p:txBody>
      </p:sp>
      <p:sp>
        <p:nvSpPr>
          <p:cNvPr id="9" name="TextBox 8"/>
          <p:cNvSpPr txBox="1"/>
          <p:nvPr/>
        </p:nvSpPr>
        <p:spPr>
          <a:xfrm>
            <a:off x="331760" y="2230000"/>
            <a:ext cx="1663664" cy="1800000"/>
          </a:xfrm>
          <a:prstGeom prst="rect">
            <a:avLst/>
          </a:prstGeom>
          <a:noFill/>
        </p:spPr>
        <p:txBody>
          <a:bodyPr wrap="square" anchor="t" lIns="45720" rIns="45720">
            <a:spAutoFit/>
          </a:bodyPr>
          <a:lstStyle/>
          <a:p>
            <a:pPr algn="ctr">
              <a:spcAft>
                <a:spcPts val="600"/>
              </a:spcAft>
            </a:pPr>
            <a:r>
              <a:rPr sz="1300" b="0" i="0">
                <a:solidFill>
                  <a:srgbClr val="595959"/>
                </a:solidFill>
                <a:latin typeface="Arial"/>
              </a:rPr>
              <a:t>Project understood</a:t>
            </a:r>
          </a:p>
          <a:p>
            <a:pPr algn="ctr">
              <a:spcAft>
                <a:spcPts val="600"/>
              </a:spcAft>
            </a:pPr>
            <a:r>
              <a:rPr sz="1300" b="0" i="0">
                <a:solidFill>
                  <a:srgbClr val="595959"/>
                </a:solidFill>
                <a:latin typeface="Arial"/>
              </a:rPr>
              <a:t>Repo + tracker set up</a:t>
            </a:r>
          </a:p>
        </p:txBody>
      </p:sp>
      <p:sp>
        <p:nvSpPr>
          <p:cNvPr id="10" name="Oval 9"/>
          <p:cNvSpPr/>
          <p:nvPr/>
        </p:nvSpPr>
        <p:spPr>
          <a:xfrm>
            <a:off x="2757256" y="1540000"/>
            <a:ext cx="220000" cy="220000"/>
          </a:xfrm>
          <a:prstGeom prst="ellipse">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15424" y="1150000"/>
            <a:ext cx="1703664" cy="350000"/>
          </a:xfrm>
          <a:prstGeom prst="rect">
            <a:avLst/>
          </a:prstGeom>
          <a:noFill/>
        </p:spPr>
        <p:txBody>
          <a:bodyPr wrap="square" anchor="t" lIns="45720" rIns="45720">
            <a:spAutoFit/>
          </a:bodyPr>
          <a:lstStyle/>
          <a:p>
            <a:pPr algn="ctr">
              <a:spcAft>
                <a:spcPts val="600"/>
              </a:spcAft>
            </a:pPr>
            <a:r>
              <a:rPr sz="1500" b="1" i="0">
                <a:solidFill>
                  <a:srgbClr val="0065BD"/>
                </a:solidFill>
                <a:latin typeface="Arial"/>
              </a:rPr>
              <a:t>23.11</a:t>
            </a:r>
          </a:p>
        </p:txBody>
      </p:sp>
      <p:sp>
        <p:nvSpPr>
          <p:cNvPr id="12" name="TextBox 11"/>
          <p:cNvSpPr txBox="1"/>
          <p:nvPr/>
        </p:nvSpPr>
        <p:spPr>
          <a:xfrm>
            <a:off x="2015424" y="1830000"/>
            <a:ext cx="1703664" cy="350000"/>
          </a:xfrm>
          <a:prstGeom prst="rect">
            <a:avLst/>
          </a:prstGeom>
          <a:noFill/>
        </p:spPr>
        <p:txBody>
          <a:bodyPr wrap="square" anchor="t" lIns="45720" rIns="45720">
            <a:spAutoFit/>
          </a:bodyPr>
          <a:lstStyle/>
          <a:p>
            <a:pPr algn="ctr">
              <a:spcAft>
                <a:spcPts val="600"/>
              </a:spcAft>
            </a:pPr>
            <a:r>
              <a:rPr sz="1500" b="1" i="0">
                <a:solidFill>
                  <a:srgbClr val="0065BD"/>
                </a:solidFill>
                <a:latin typeface="Arial"/>
              </a:rPr>
              <a:t>Reproduce</a:t>
            </a:r>
          </a:p>
        </p:txBody>
      </p:sp>
      <p:sp>
        <p:nvSpPr>
          <p:cNvPr id="13" name="TextBox 12"/>
          <p:cNvSpPr txBox="1"/>
          <p:nvPr/>
        </p:nvSpPr>
        <p:spPr>
          <a:xfrm>
            <a:off x="2035424" y="2230000"/>
            <a:ext cx="1663664" cy="1800000"/>
          </a:xfrm>
          <a:prstGeom prst="rect">
            <a:avLst/>
          </a:prstGeom>
          <a:noFill/>
        </p:spPr>
        <p:txBody>
          <a:bodyPr wrap="square" anchor="t" lIns="45720" rIns="45720">
            <a:spAutoFit/>
          </a:bodyPr>
          <a:lstStyle/>
          <a:p>
            <a:pPr algn="ctr">
              <a:spcAft>
                <a:spcPts val="600"/>
              </a:spcAft>
            </a:pPr>
            <a:r>
              <a:rPr sz="1300" b="0" i="0">
                <a:solidFill>
                  <a:srgbClr val="595959"/>
                </a:solidFill>
                <a:latin typeface="Arial"/>
              </a:rPr>
              <a:t>Raw ProtT5 on test219</a:t>
            </a:r>
          </a:p>
          <a:p>
            <a:pPr algn="ctr">
              <a:spcAft>
                <a:spcPts val="600"/>
              </a:spcAft>
            </a:pPr>
            <a:r>
              <a:rPr sz="1300" b="0" i="0">
                <a:solidFill>
                  <a:srgbClr val="595959"/>
                </a:solidFill>
                <a:latin typeface="Arial"/>
              </a:rPr>
              <a:t>target 84/67/57/64 %</a:t>
            </a:r>
          </a:p>
          <a:p>
            <a:pPr algn="ctr">
              <a:spcAft>
                <a:spcPts val="600"/>
              </a:spcAft>
            </a:pPr>
            <a:r>
              <a:rPr sz="1300" b="0" i="0">
                <a:solidFill>
                  <a:srgbClr val="595959"/>
                </a:solidFill>
                <a:latin typeface="Arial"/>
              </a:rPr>
              <a:t>Embeddings + MMseqs2</a:t>
            </a:r>
          </a:p>
        </p:txBody>
      </p:sp>
      <p:sp>
        <p:nvSpPr>
          <p:cNvPr id="14" name="Oval 13"/>
          <p:cNvSpPr/>
          <p:nvPr/>
        </p:nvSpPr>
        <p:spPr>
          <a:xfrm>
            <a:off x="4460920" y="1540000"/>
            <a:ext cx="220000" cy="220000"/>
          </a:xfrm>
          <a:prstGeom prst="ellipse">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19088" y="1150000"/>
            <a:ext cx="1703664" cy="350000"/>
          </a:xfrm>
          <a:prstGeom prst="rect">
            <a:avLst/>
          </a:prstGeom>
          <a:noFill/>
        </p:spPr>
        <p:txBody>
          <a:bodyPr wrap="square" anchor="t" lIns="45720" rIns="45720">
            <a:spAutoFit/>
          </a:bodyPr>
          <a:lstStyle/>
          <a:p>
            <a:pPr algn="ctr">
              <a:spcAft>
                <a:spcPts val="600"/>
              </a:spcAft>
            </a:pPr>
            <a:r>
              <a:rPr sz="1500" b="1" i="0">
                <a:solidFill>
                  <a:srgbClr val="000000"/>
                </a:solidFill>
                <a:latin typeface="Arial"/>
              </a:rPr>
              <a:t>14.12</a:t>
            </a:r>
          </a:p>
        </p:txBody>
      </p:sp>
      <p:sp>
        <p:nvSpPr>
          <p:cNvPr id="16" name="TextBox 15"/>
          <p:cNvSpPr txBox="1"/>
          <p:nvPr/>
        </p:nvSpPr>
        <p:spPr>
          <a:xfrm>
            <a:off x="3719088" y="1830000"/>
            <a:ext cx="1703664" cy="350000"/>
          </a:xfrm>
          <a:prstGeom prst="rect">
            <a:avLst/>
          </a:prstGeom>
          <a:noFill/>
        </p:spPr>
        <p:txBody>
          <a:bodyPr wrap="square" anchor="t" lIns="45720" rIns="45720">
            <a:spAutoFit/>
          </a:bodyPr>
          <a:lstStyle/>
          <a:p>
            <a:pPr algn="ctr">
              <a:spcAft>
                <a:spcPts val="600"/>
              </a:spcAft>
            </a:pPr>
            <a:r>
              <a:rPr sz="1500" b="1" i="0">
                <a:solidFill>
                  <a:srgbClr val="000000"/>
                </a:solidFill>
                <a:latin typeface="Arial"/>
              </a:rPr>
              <a:t>Freeze</a:t>
            </a:r>
          </a:p>
        </p:txBody>
      </p:sp>
      <p:sp>
        <p:nvSpPr>
          <p:cNvPr id="17" name="TextBox 16"/>
          <p:cNvSpPr txBox="1"/>
          <p:nvPr/>
        </p:nvSpPr>
        <p:spPr>
          <a:xfrm>
            <a:off x="3739088" y="2230000"/>
            <a:ext cx="1663664" cy="1800000"/>
          </a:xfrm>
          <a:prstGeom prst="rect">
            <a:avLst/>
          </a:prstGeom>
          <a:noFill/>
        </p:spPr>
        <p:txBody>
          <a:bodyPr wrap="square" anchor="t" lIns="45720" rIns="45720">
            <a:spAutoFit/>
          </a:bodyPr>
          <a:lstStyle/>
          <a:p>
            <a:pPr algn="ctr">
              <a:spcAft>
                <a:spcPts val="600"/>
              </a:spcAft>
            </a:pPr>
            <a:r>
              <a:rPr sz="1300" b="0" i="0">
                <a:solidFill>
                  <a:srgbClr val="595959"/>
                </a:solidFill>
                <a:latin typeface="Arial"/>
              </a:rPr>
              <a:t>Splits + protocol agreed</a:t>
            </a:r>
          </a:p>
          <a:p>
            <a:pPr algn="ctr">
              <a:spcAft>
                <a:spcPts val="600"/>
              </a:spcAft>
            </a:pPr>
            <a:r>
              <a:rPr sz="1300" b="0" i="0">
                <a:solidFill>
                  <a:srgbClr val="595959"/>
                </a:solidFill>
                <a:latin typeface="Arial"/>
              </a:rPr>
              <a:t>EC dataset built</a:t>
            </a:r>
          </a:p>
          <a:p>
            <a:pPr algn="ctr">
              <a:spcAft>
                <a:spcPts val="600"/>
              </a:spcAft>
            </a:pPr>
            <a:r>
              <a:rPr sz="1300" b="0" i="0">
                <a:solidFill>
                  <a:srgbClr val="595959"/>
                </a:solidFill>
                <a:latin typeface="Arial"/>
              </a:rPr>
              <a:t>11 pLMs on CATH</a:t>
            </a:r>
          </a:p>
        </p:txBody>
      </p:sp>
      <p:sp>
        <p:nvSpPr>
          <p:cNvPr id="18" name="Oval 17"/>
          <p:cNvSpPr/>
          <p:nvPr/>
        </p:nvSpPr>
        <p:spPr>
          <a:xfrm>
            <a:off x="6164584" y="1540000"/>
            <a:ext cx="220000" cy="220000"/>
          </a:xfrm>
          <a:prstGeom prst="ellipse">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22752" y="1150000"/>
            <a:ext cx="1703664" cy="350000"/>
          </a:xfrm>
          <a:prstGeom prst="rect">
            <a:avLst/>
          </a:prstGeom>
          <a:noFill/>
        </p:spPr>
        <p:txBody>
          <a:bodyPr wrap="square" anchor="t" lIns="45720" rIns="45720">
            <a:spAutoFit/>
          </a:bodyPr>
          <a:lstStyle/>
          <a:p>
            <a:pPr algn="ctr">
              <a:spcAft>
                <a:spcPts val="600"/>
              </a:spcAft>
            </a:pPr>
            <a:r>
              <a:rPr sz="1500" b="1" i="0">
                <a:solidFill>
                  <a:srgbClr val="000000"/>
                </a:solidFill>
                <a:latin typeface="Arial"/>
              </a:rPr>
              <a:t>Jan</a:t>
            </a:r>
          </a:p>
        </p:txBody>
      </p:sp>
      <p:sp>
        <p:nvSpPr>
          <p:cNvPr id="20" name="TextBox 19"/>
          <p:cNvSpPr txBox="1"/>
          <p:nvPr/>
        </p:nvSpPr>
        <p:spPr>
          <a:xfrm>
            <a:off x="5422752" y="1830000"/>
            <a:ext cx="1703664" cy="350000"/>
          </a:xfrm>
          <a:prstGeom prst="rect">
            <a:avLst/>
          </a:prstGeom>
          <a:noFill/>
        </p:spPr>
        <p:txBody>
          <a:bodyPr wrap="square" anchor="t" lIns="45720" rIns="45720">
            <a:spAutoFit/>
          </a:bodyPr>
          <a:lstStyle/>
          <a:p>
            <a:pPr algn="ctr">
              <a:spcAft>
                <a:spcPts val="600"/>
              </a:spcAft>
            </a:pPr>
            <a:r>
              <a:rPr sz="1500" b="1" i="0">
                <a:solidFill>
                  <a:srgbClr val="000000"/>
                </a:solidFill>
                <a:latin typeface="Arial"/>
              </a:rPr>
              <a:t>Answer RQs</a:t>
            </a:r>
          </a:p>
        </p:txBody>
      </p:sp>
      <p:sp>
        <p:nvSpPr>
          <p:cNvPr id="21" name="TextBox 20"/>
          <p:cNvSpPr txBox="1"/>
          <p:nvPr/>
        </p:nvSpPr>
        <p:spPr>
          <a:xfrm>
            <a:off x="5442752" y="2230000"/>
            <a:ext cx="1663664" cy="1800000"/>
          </a:xfrm>
          <a:prstGeom prst="rect">
            <a:avLst/>
          </a:prstGeom>
          <a:noFill/>
        </p:spPr>
        <p:txBody>
          <a:bodyPr wrap="square" anchor="t" lIns="45720" rIns="45720">
            <a:spAutoFit/>
          </a:bodyPr>
          <a:lstStyle/>
          <a:p>
            <a:pPr algn="ctr">
              <a:spcAft>
                <a:spcPts val="600"/>
              </a:spcAft>
            </a:pPr>
            <a:r>
              <a:rPr sz="1300" b="0" i="0">
                <a:solidFill>
                  <a:srgbClr val="595959"/>
                </a:solidFill>
                <a:latin typeface="Arial"/>
              </a:rPr>
              <a:t>EC results</a:t>
            </a:r>
          </a:p>
          <a:p>
            <a:pPr algn="ctr">
              <a:spcAft>
                <a:spcPts val="600"/>
              </a:spcAft>
            </a:pPr>
            <a:r>
              <a:rPr sz="1300" b="0" i="0">
                <a:solidFill>
                  <a:srgbClr val="595959"/>
                </a:solidFill>
                <a:latin typeface="Arial"/>
              </a:rPr>
              <a:t>Thresholds per pLM</a:t>
            </a:r>
          </a:p>
          <a:p>
            <a:pPr algn="ctr">
              <a:spcAft>
                <a:spcPts val="600"/>
              </a:spcAft>
            </a:pPr>
            <a:r>
              <a:rPr sz="1300" b="0" i="0">
                <a:solidFill>
                  <a:srgbClr val="595959"/>
                </a:solidFill>
                <a:latin typeface="Arial"/>
              </a:rPr>
              <a:t>Reliability score</a:t>
            </a:r>
          </a:p>
        </p:txBody>
      </p:sp>
      <p:sp>
        <p:nvSpPr>
          <p:cNvPr id="22" name="Oval 21"/>
          <p:cNvSpPr/>
          <p:nvPr/>
        </p:nvSpPr>
        <p:spPr>
          <a:xfrm>
            <a:off x="7868248" y="1540000"/>
            <a:ext cx="220000" cy="220000"/>
          </a:xfrm>
          <a:prstGeom prst="ellipse">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26416" y="1150000"/>
            <a:ext cx="1703664" cy="350000"/>
          </a:xfrm>
          <a:prstGeom prst="rect">
            <a:avLst/>
          </a:prstGeom>
          <a:noFill/>
        </p:spPr>
        <p:txBody>
          <a:bodyPr wrap="square" anchor="t" lIns="45720" rIns="45720">
            <a:spAutoFit/>
          </a:bodyPr>
          <a:lstStyle/>
          <a:p>
            <a:pPr algn="ctr">
              <a:spcAft>
                <a:spcPts val="600"/>
              </a:spcAft>
            </a:pPr>
            <a:r>
              <a:rPr sz="1500" b="1" i="0">
                <a:solidFill>
                  <a:srgbClr val="000000"/>
                </a:solidFill>
                <a:latin typeface="Arial"/>
              </a:rPr>
              <a:t>Exam</a:t>
            </a:r>
          </a:p>
        </p:txBody>
      </p:sp>
      <p:sp>
        <p:nvSpPr>
          <p:cNvPr id="24" name="TextBox 23"/>
          <p:cNvSpPr txBox="1"/>
          <p:nvPr/>
        </p:nvSpPr>
        <p:spPr>
          <a:xfrm>
            <a:off x="7126416" y="1830000"/>
            <a:ext cx="1703664" cy="350000"/>
          </a:xfrm>
          <a:prstGeom prst="rect">
            <a:avLst/>
          </a:prstGeom>
          <a:noFill/>
        </p:spPr>
        <p:txBody>
          <a:bodyPr wrap="square" anchor="t" lIns="45720" rIns="45720">
            <a:spAutoFit/>
          </a:bodyPr>
          <a:lstStyle/>
          <a:p>
            <a:pPr algn="ctr">
              <a:spcAft>
                <a:spcPts val="600"/>
              </a:spcAft>
            </a:pPr>
            <a:r>
              <a:rPr sz="1500" b="1" i="0">
                <a:solidFill>
                  <a:srgbClr val="000000"/>
                </a:solidFill>
                <a:latin typeface="Arial"/>
              </a:rPr>
              <a:t>Deliver</a:t>
            </a:r>
          </a:p>
        </p:txBody>
      </p:sp>
      <p:sp>
        <p:nvSpPr>
          <p:cNvPr id="25" name="TextBox 24"/>
          <p:cNvSpPr txBox="1"/>
          <p:nvPr/>
        </p:nvSpPr>
        <p:spPr>
          <a:xfrm>
            <a:off x="7146416" y="2230000"/>
            <a:ext cx="1663664" cy="1800000"/>
          </a:xfrm>
          <a:prstGeom prst="rect">
            <a:avLst/>
          </a:prstGeom>
          <a:noFill/>
        </p:spPr>
        <p:txBody>
          <a:bodyPr wrap="square" anchor="t" lIns="45720" rIns="45720">
            <a:spAutoFit/>
          </a:bodyPr>
          <a:lstStyle/>
          <a:p>
            <a:pPr algn="ctr">
              <a:spcAft>
                <a:spcPts val="600"/>
              </a:spcAft>
            </a:pPr>
            <a:r>
              <a:rPr sz="1300" b="0" i="0">
                <a:solidFill>
                  <a:srgbClr val="595959"/>
                </a:solidFill>
                <a:latin typeface="Arial"/>
              </a:rPr>
              <a:t>Documented code</a:t>
            </a:r>
          </a:p>
          <a:p>
            <a:pPr algn="ctr">
              <a:spcAft>
                <a:spcPts val="600"/>
              </a:spcAft>
            </a:pPr>
            <a:r>
              <a:rPr sz="1300" b="0" i="0">
                <a:solidFill>
                  <a:srgbClr val="595959"/>
                </a:solidFill>
                <a:latin typeface="Arial"/>
              </a:rPr>
              <a:t>Frozen splits</a:t>
            </a:r>
          </a:p>
          <a:p>
            <a:pPr algn="ctr">
              <a:spcAft>
                <a:spcPts val="600"/>
              </a:spcAft>
            </a:pPr>
            <a:r>
              <a:rPr sz="1300" b="0" i="0">
                <a:solidFill>
                  <a:srgbClr val="595959"/>
                </a:solidFill>
                <a:latin typeface="Arial"/>
              </a:rPr>
              <a:t>Data on Zenodo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0" i="0">
                <a:solidFill>
                  <a:srgbClr val="000000"/>
                </a:solidFill>
                <a:latin typeface="Arial"/>
              </a:rPr>
              <a:t>Design questions we want to settle with you</a:t>
            </a:r>
          </a:p>
        </p:txBody>
      </p:sp>
      <p:sp>
        <p:nvSpPr>
          <p:cNvPr id="3" name="Content Placeholder 2"/>
          <p:cNvSpPr>
            <a:spLocks noGrp="1"/>
          </p:cNvSpPr>
          <p:nvPr>
            <p:ph/>
          </p:nvPr>
        </p:nvSpPr>
        <p:spPr/>
        <p:txBody>
          <a:bodyPr/>
          <a:lstStyle/>
          <a:p/>
        </p:txBody>
      </p:sp>
      <p:sp>
        <p:nvSpPr>
          <p:cNvPr id="4" name="PlaceHolder 3"/>
          <p:cNvSpPr>
            <a:spLocks noGrp="1"/>
          </p:cNvSpPr>
          <p:nvPr>
            <p:ph type="sldNum" idx="4"/>
          </p:nvPr>
        </p:nvSpPr>
        <p:spPr/>
        <p:txBody>
          <a:bodyPr/>
          <a:p>
            <a:fld id="{022DDFD0-1DF1-4F6A-9B35-C12DB353A077}" type="slidenum">
              <a:t>3</a:t>
            </a:fld>
          </a:p>
        </p:txBody>
      </p:sp>
      <p:sp>
        <p:nvSpPr>
          <p:cNvPr id="5" name="TextBox 4"/>
          <p:cNvSpPr txBox="1"/>
          <p:nvPr/>
        </p:nvSpPr>
        <p:spPr>
          <a:xfrm>
            <a:off x="311760" y="1100000"/>
            <a:ext cx="1500000" cy="560000"/>
          </a:xfrm>
          <a:prstGeom prst="rect">
            <a:avLst/>
          </a:prstGeom>
          <a:noFill/>
        </p:spPr>
        <p:txBody>
          <a:bodyPr wrap="square" anchor="ctr" lIns="45720" rIns="45720">
            <a:spAutoFit/>
          </a:bodyPr>
          <a:lstStyle/>
          <a:p>
            <a:pPr algn="l">
              <a:spcAft>
                <a:spcPts val="600"/>
              </a:spcAft>
            </a:pPr>
            <a:r>
              <a:rPr sz="1500" b="1" i="0">
                <a:solidFill>
                  <a:srgbClr val="0065BD"/>
                </a:solidFill>
                <a:latin typeface="Arial"/>
              </a:rPr>
              <a:t>Splits</a:t>
            </a:r>
          </a:p>
        </p:txBody>
      </p:sp>
      <p:sp>
        <p:nvSpPr>
          <p:cNvPr id="6" name="TextBox 5"/>
          <p:cNvSpPr txBox="1"/>
          <p:nvPr/>
        </p:nvSpPr>
        <p:spPr>
          <a:xfrm>
            <a:off x="1811760" y="1100000"/>
            <a:ext cx="3900000" cy="560000"/>
          </a:xfrm>
          <a:prstGeom prst="rect">
            <a:avLst/>
          </a:prstGeom>
          <a:noFill/>
        </p:spPr>
        <p:txBody>
          <a:bodyPr wrap="square" anchor="ctr" lIns="45720" rIns="45720">
            <a:spAutoFit/>
          </a:bodyPr>
          <a:lstStyle/>
          <a:p>
            <a:pPr algn="l">
              <a:spcAft>
                <a:spcPts val="600"/>
              </a:spcAft>
            </a:pPr>
            <a:r>
              <a:rPr sz="1400" b="0" i="0">
                <a:solidFill>
                  <a:srgbClr val="000000"/>
                </a:solidFill>
                <a:latin typeface="Arial"/>
              </a:rPr>
              <a:t>How similar may queries be to the lookup set?</a:t>
            </a:r>
          </a:p>
        </p:txBody>
      </p:sp>
      <p:sp>
        <p:nvSpPr>
          <p:cNvPr id="7" name="TextBox 6"/>
          <p:cNvSpPr txBox="1"/>
          <p:nvPr/>
        </p:nvSpPr>
        <p:spPr>
          <a:xfrm>
            <a:off x="5761760" y="1100000"/>
            <a:ext cx="3068320" cy="560000"/>
          </a:xfrm>
          <a:prstGeom prst="rect">
            <a:avLst/>
          </a:prstGeom>
          <a:noFill/>
        </p:spPr>
        <p:txBody>
          <a:bodyPr wrap="square" anchor="ctr" lIns="45720" rIns="45720">
            <a:spAutoFit/>
          </a:bodyPr>
          <a:lstStyle/>
          <a:p>
            <a:pPr algn="l">
              <a:spcAft>
                <a:spcPts val="600"/>
              </a:spcAft>
            </a:pPr>
            <a:r>
              <a:rPr sz="1300" b="0" i="0">
                <a:solidFill>
                  <a:srgbClr val="595959"/>
                </a:solidFill>
                <a:latin typeface="Arial"/>
              </a:rPr>
              <a:t>idea: </a:t>
            </a:r>
            <a:r>
              <a:rPr sz="1300" b="0" i="1">
                <a:solidFill>
                  <a:srgbClr val="000000"/>
                </a:solidFill>
                <a:latin typeface="Arial"/>
              </a:rPr>
              <a:t>cap identity, report per identity bin</a:t>
            </a:r>
          </a:p>
        </p:txBody>
      </p:sp>
      <p:sp>
        <p:nvSpPr>
          <p:cNvPr id="8" name="TextBox 7"/>
          <p:cNvSpPr txBox="1"/>
          <p:nvPr/>
        </p:nvSpPr>
        <p:spPr>
          <a:xfrm>
            <a:off x="311760" y="1740000"/>
            <a:ext cx="1500000" cy="560000"/>
          </a:xfrm>
          <a:prstGeom prst="rect">
            <a:avLst/>
          </a:prstGeom>
          <a:noFill/>
        </p:spPr>
        <p:txBody>
          <a:bodyPr wrap="square" anchor="ctr" lIns="45720" rIns="45720">
            <a:spAutoFit/>
          </a:bodyPr>
          <a:lstStyle/>
          <a:p>
            <a:pPr algn="l">
              <a:spcAft>
                <a:spcPts val="600"/>
              </a:spcAft>
            </a:pPr>
            <a:r>
              <a:rPr sz="1500" b="1" i="0">
                <a:solidFill>
                  <a:srgbClr val="0065BD"/>
                </a:solidFill>
                <a:latin typeface="Arial"/>
              </a:rPr>
              <a:t>EC labels</a:t>
            </a:r>
          </a:p>
        </p:txBody>
      </p:sp>
      <p:sp>
        <p:nvSpPr>
          <p:cNvPr id="9" name="TextBox 8"/>
          <p:cNvSpPr txBox="1"/>
          <p:nvPr/>
        </p:nvSpPr>
        <p:spPr>
          <a:xfrm>
            <a:off x="1811760" y="1740000"/>
            <a:ext cx="3900000" cy="560000"/>
          </a:xfrm>
          <a:prstGeom prst="rect">
            <a:avLst/>
          </a:prstGeom>
          <a:noFill/>
        </p:spPr>
        <p:txBody>
          <a:bodyPr wrap="square" anchor="ctr" lIns="45720" rIns="45720">
            <a:spAutoFit/>
          </a:bodyPr>
          <a:lstStyle/>
          <a:p>
            <a:pPr algn="l">
              <a:spcAft>
                <a:spcPts val="600"/>
              </a:spcAft>
            </a:pPr>
            <a:r>
              <a:rPr sz="1400" b="0" i="0">
                <a:solidFill>
                  <a:srgbClr val="000000"/>
                </a:solidFill>
                <a:latin typeface="Arial"/>
              </a:rPr>
              <a:t>Which EC numbers can we trust as test labels?</a:t>
            </a:r>
          </a:p>
        </p:txBody>
      </p:sp>
      <p:sp>
        <p:nvSpPr>
          <p:cNvPr id="10" name="TextBox 9"/>
          <p:cNvSpPr txBox="1"/>
          <p:nvPr/>
        </p:nvSpPr>
        <p:spPr>
          <a:xfrm>
            <a:off x="5761760" y="1740000"/>
            <a:ext cx="3068320" cy="560000"/>
          </a:xfrm>
          <a:prstGeom prst="rect">
            <a:avLst/>
          </a:prstGeom>
          <a:noFill/>
        </p:spPr>
        <p:txBody>
          <a:bodyPr wrap="square" anchor="ctr" lIns="45720" rIns="45720">
            <a:spAutoFit/>
          </a:bodyPr>
          <a:lstStyle/>
          <a:p>
            <a:pPr algn="l">
              <a:spcAft>
                <a:spcPts val="600"/>
              </a:spcAft>
            </a:pPr>
            <a:r>
              <a:rPr sz="1300" b="0" i="0">
                <a:solidFill>
                  <a:srgbClr val="595959"/>
                </a:solidFill>
                <a:latin typeface="Arial"/>
              </a:rPr>
              <a:t>idea: </a:t>
            </a:r>
            <a:r>
              <a:rPr sz="1300" b="0" i="1">
                <a:solidFill>
                  <a:srgbClr val="000000"/>
                </a:solidFill>
                <a:latin typeface="Arial"/>
              </a:rPr>
              <a:t>only reactions with experimental evidence</a:t>
            </a:r>
          </a:p>
        </p:txBody>
      </p:sp>
      <p:sp>
        <p:nvSpPr>
          <p:cNvPr id="11" name="TextBox 10"/>
          <p:cNvSpPr txBox="1"/>
          <p:nvPr/>
        </p:nvSpPr>
        <p:spPr>
          <a:xfrm>
            <a:off x="311760" y="2380000"/>
            <a:ext cx="1500000" cy="560000"/>
          </a:xfrm>
          <a:prstGeom prst="rect">
            <a:avLst/>
          </a:prstGeom>
          <a:noFill/>
        </p:spPr>
        <p:txBody>
          <a:bodyPr wrap="square" anchor="ctr" lIns="45720" rIns="45720">
            <a:spAutoFit/>
          </a:bodyPr>
          <a:lstStyle/>
          <a:p>
            <a:pPr algn="l">
              <a:spcAft>
                <a:spcPts val="600"/>
              </a:spcAft>
            </a:pPr>
            <a:r>
              <a:rPr sz="1500" b="1" i="0">
                <a:solidFill>
                  <a:srgbClr val="0065BD"/>
                </a:solidFill>
                <a:latin typeface="Arial"/>
              </a:rPr>
              <a:t>Model size</a:t>
            </a:r>
          </a:p>
        </p:txBody>
      </p:sp>
      <p:sp>
        <p:nvSpPr>
          <p:cNvPr id="12" name="TextBox 11"/>
          <p:cNvSpPr txBox="1"/>
          <p:nvPr/>
        </p:nvSpPr>
        <p:spPr>
          <a:xfrm>
            <a:off x="1811760" y="2380000"/>
            <a:ext cx="3900000" cy="560000"/>
          </a:xfrm>
          <a:prstGeom prst="rect">
            <a:avLst/>
          </a:prstGeom>
          <a:noFill/>
        </p:spPr>
        <p:txBody>
          <a:bodyPr wrap="square" anchor="ctr" lIns="45720" rIns="45720">
            <a:spAutoFit/>
          </a:bodyPr>
          <a:lstStyle/>
          <a:p>
            <a:pPr algn="l">
              <a:spcAft>
                <a:spcPts val="600"/>
              </a:spcAft>
            </a:pPr>
            <a:r>
              <a:rPr sz="1400" b="0" i="0">
                <a:solidFill>
                  <a:srgbClr val="000000"/>
                </a:solidFill>
                <a:latin typeface="Arial"/>
              </a:rPr>
              <a:t>Bigger ESM-2: more knowledge or more dimensions?</a:t>
            </a:r>
          </a:p>
        </p:txBody>
      </p:sp>
      <p:sp>
        <p:nvSpPr>
          <p:cNvPr id="13" name="TextBox 12"/>
          <p:cNvSpPr txBox="1"/>
          <p:nvPr/>
        </p:nvSpPr>
        <p:spPr>
          <a:xfrm>
            <a:off x="5761760" y="2380000"/>
            <a:ext cx="3068320" cy="560000"/>
          </a:xfrm>
          <a:prstGeom prst="rect">
            <a:avLst/>
          </a:prstGeom>
          <a:noFill/>
        </p:spPr>
        <p:txBody>
          <a:bodyPr wrap="square" anchor="ctr" lIns="45720" rIns="45720">
            <a:spAutoFit/>
          </a:bodyPr>
          <a:lstStyle/>
          <a:p>
            <a:pPr algn="l">
              <a:spcAft>
                <a:spcPts val="600"/>
              </a:spcAft>
            </a:pPr>
            <a:r>
              <a:rPr sz="1300" b="0" i="0">
                <a:solidFill>
                  <a:srgbClr val="595959"/>
                </a:solidFill>
                <a:latin typeface="Arial"/>
              </a:rPr>
              <a:t>idea: </a:t>
            </a:r>
            <a:r>
              <a:rPr sz="1300" b="0" i="1">
                <a:solidFill>
                  <a:srgbClr val="000000"/>
                </a:solidFill>
                <a:latin typeface="Arial"/>
              </a:rPr>
              <a:t>compare at matched dimension (PCA)</a:t>
            </a:r>
          </a:p>
        </p:txBody>
      </p:sp>
      <p:sp>
        <p:nvSpPr>
          <p:cNvPr id="14" name="TextBox 13"/>
          <p:cNvSpPr txBox="1"/>
          <p:nvPr/>
        </p:nvSpPr>
        <p:spPr>
          <a:xfrm>
            <a:off x="311760" y="3020000"/>
            <a:ext cx="1500000" cy="560000"/>
          </a:xfrm>
          <a:prstGeom prst="rect">
            <a:avLst/>
          </a:prstGeom>
          <a:noFill/>
        </p:spPr>
        <p:txBody>
          <a:bodyPr wrap="square" anchor="ctr" lIns="45720" rIns="45720">
            <a:spAutoFit/>
          </a:bodyPr>
          <a:lstStyle/>
          <a:p>
            <a:pPr algn="l">
              <a:spcAft>
                <a:spcPts val="600"/>
              </a:spcAft>
            </a:pPr>
            <a:r>
              <a:rPr sz="1500" b="1" i="0">
                <a:solidFill>
                  <a:srgbClr val="0065BD"/>
                </a:solidFill>
                <a:latin typeface="Arial"/>
              </a:rPr>
              <a:t>Distances</a:t>
            </a:r>
          </a:p>
        </p:txBody>
      </p:sp>
      <p:sp>
        <p:nvSpPr>
          <p:cNvPr id="15" name="TextBox 14"/>
          <p:cNvSpPr txBox="1"/>
          <p:nvPr/>
        </p:nvSpPr>
        <p:spPr>
          <a:xfrm>
            <a:off x="1811760" y="3020000"/>
            <a:ext cx="3900000" cy="560000"/>
          </a:xfrm>
          <a:prstGeom prst="rect">
            <a:avLst/>
          </a:prstGeom>
          <a:noFill/>
        </p:spPr>
        <p:txBody>
          <a:bodyPr wrap="square" anchor="ctr" lIns="45720" rIns="45720">
            <a:spAutoFit/>
          </a:bodyPr>
          <a:lstStyle/>
          <a:p>
            <a:pPr algn="l">
              <a:spcAft>
                <a:spcPts val="600"/>
              </a:spcAft>
            </a:pPr>
            <a:r>
              <a:rPr sz="1400" b="0" i="0">
                <a:solidFill>
                  <a:srgbClr val="000000"/>
                </a:solidFill>
                <a:latin typeface="Arial"/>
              </a:rPr>
              <a:t>When do Euclidean and cosine disagree?</a:t>
            </a:r>
          </a:p>
        </p:txBody>
      </p:sp>
      <p:sp>
        <p:nvSpPr>
          <p:cNvPr id="16" name="TextBox 15"/>
          <p:cNvSpPr txBox="1"/>
          <p:nvPr/>
        </p:nvSpPr>
        <p:spPr>
          <a:xfrm>
            <a:off x="5761760" y="3020000"/>
            <a:ext cx="3068320" cy="560000"/>
          </a:xfrm>
          <a:prstGeom prst="rect">
            <a:avLst/>
          </a:prstGeom>
          <a:noFill/>
        </p:spPr>
        <p:txBody>
          <a:bodyPr wrap="square" anchor="ctr" lIns="45720" rIns="45720">
            <a:spAutoFit/>
          </a:bodyPr>
          <a:lstStyle/>
          <a:p>
            <a:pPr algn="l">
              <a:spcAft>
                <a:spcPts val="600"/>
              </a:spcAft>
            </a:pPr>
            <a:r>
              <a:rPr sz="1300" b="0" i="0">
                <a:solidFill>
                  <a:srgbClr val="595959"/>
                </a:solidFill>
                <a:latin typeface="Arial"/>
              </a:rPr>
              <a:t>idea: </a:t>
            </a:r>
            <a:r>
              <a:rPr sz="1300" b="0" i="1">
                <a:solidFill>
                  <a:srgbClr val="000000"/>
                </a:solidFill>
                <a:latin typeface="Arial"/>
              </a:rPr>
              <a:t>only via vector norms; compare calibrated precision</a:t>
            </a:r>
          </a:p>
        </p:txBody>
      </p:sp>
      <p:sp>
        <p:nvSpPr>
          <p:cNvPr id="17" name="TextBox 16"/>
          <p:cNvSpPr txBox="1"/>
          <p:nvPr/>
        </p:nvSpPr>
        <p:spPr>
          <a:xfrm>
            <a:off x="311760" y="3660000"/>
            <a:ext cx="1500000" cy="560000"/>
          </a:xfrm>
          <a:prstGeom prst="rect">
            <a:avLst/>
          </a:prstGeom>
          <a:noFill/>
        </p:spPr>
        <p:txBody>
          <a:bodyPr wrap="square" anchor="ctr" lIns="45720" rIns="45720">
            <a:spAutoFit/>
          </a:bodyPr>
          <a:lstStyle/>
          <a:p>
            <a:pPr algn="l">
              <a:spcAft>
                <a:spcPts val="600"/>
              </a:spcAft>
            </a:pPr>
            <a:r>
              <a:rPr sz="1500" b="1" i="0">
                <a:solidFill>
                  <a:srgbClr val="0065BD"/>
                </a:solidFill>
                <a:latin typeface="Arial"/>
              </a:rPr>
              <a:t>Edge cases</a:t>
            </a:r>
          </a:p>
        </p:txBody>
      </p:sp>
      <p:sp>
        <p:nvSpPr>
          <p:cNvPr id="18" name="TextBox 17"/>
          <p:cNvSpPr txBox="1"/>
          <p:nvPr/>
        </p:nvSpPr>
        <p:spPr>
          <a:xfrm>
            <a:off x="1811760" y="3660000"/>
            <a:ext cx="3900000" cy="560000"/>
          </a:xfrm>
          <a:prstGeom prst="rect">
            <a:avLst/>
          </a:prstGeom>
          <a:noFill/>
        </p:spPr>
        <p:txBody>
          <a:bodyPr wrap="square" anchor="ctr" lIns="45720" rIns="45720">
            <a:spAutoFit/>
          </a:bodyPr>
          <a:lstStyle/>
          <a:p>
            <a:pPr algn="l">
              <a:spcAft>
                <a:spcPts val="600"/>
              </a:spcAft>
            </a:pPr>
            <a:r>
              <a:rPr sz="1400" b="0" i="0">
                <a:solidFill>
                  <a:srgbClr val="000000"/>
                </a:solidFill>
                <a:latin typeface="Arial"/>
              </a:rPr>
              <a:t>Multi-domain proteins, several / incomplete ECs</a:t>
            </a:r>
          </a:p>
        </p:txBody>
      </p:sp>
      <p:sp>
        <p:nvSpPr>
          <p:cNvPr id="19" name="TextBox 18"/>
          <p:cNvSpPr txBox="1"/>
          <p:nvPr/>
        </p:nvSpPr>
        <p:spPr>
          <a:xfrm>
            <a:off x="5761760" y="3660000"/>
            <a:ext cx="3068320" cy="560000"/>
          </a:xfrm>
          <a:prstGeom prst="rect">
            <a:avLst/>
          </a:prstGeom>
          <a:noFill/>
        </p:spPr>
        <p:txBody>
          <a:bodyPr wrap="square" anchor="ctr" lIns="45720" rIns="45720">
            <a:spAutoFit/>
          </a:bodyPr>
          <a:lstStyle/>
          <a:p>
            <a:pPr algn="l">
              <a:spcAft>
                <a:spcPts val="600"/>
              </a:spcAft>
            </a:pPr>
            <a:r>
              <a:rPr sz="1300" b="0" i="0">
                <a:solidFill>
                  <a:srgbClr val="595959"/>
                </a:solidFill>
                <a:latin typeface="Arial"/>
              </a:rPr>
              <a:t>idea: </a:t>
            </a:r>
            <a:r>
              <a:rPr sz="1300" b="0" i="1">
                <a:solidFill>
                  <a:srgbClr val="000000"/>
                </a:solidFill>
                <a:latin typeface="Arial"/>
              </a:rPr>
              <a:t>define per-level correctness up front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0" i="0">
                <a:solidFill>
                  <a:srgbClr val="000000"/>
                </a:solidFill>
                <a:latin typeface="Arial"/>
              </a:rPr>
              <a:t>Status and what we need</a:t>
            </a:r>
          </a:p>
        </p:txBody>
      </p:sp>
      <p:sp>
        <p:nvSpPr>
          <p:cNvPr id="3" name="Content Placeholder 2"/>
          <p:cNvSpPr>
            <a:spLocks noGrp="1"/>
          </p:cNvSpPr>
          <p:nvPr>
            <p:ph/>
          </p:nvPr>
        </p:nvSpPr>
        <p:spPr/>
        <p:txBody>
          <a:bodyPr/>
          <a:lstStyle/>
          <a:p/>
        </p:txBody>
      </p:sp>
      <p:sp>
        <p:nvSpPr>
          <p:cNvPr id="4" name="PlaceHolder 3"/>
          <p:cNvSpPr>
            <a:spLocks noGrp="1"/>
          </p:cNvSpPr>
          <p:nvPr>
            <p:ph type="sldNum" idx="4"/>
          </p:nvPr>
        </p:nvSpPr>
        <p:spPr/>
        <p:txBody>
          <a:bodyPr/>
          <a:p>
            <a:fld id="{022DDFD0-1DF1-4F6A-9B35-C12DB353A077}" type="slidenum">
              <a:t>3</a:t>
            </a:fld>
          </a:p>
        </p:txBody>
      </p:sp>
      <p:sp>
        <p:nvSpPr>
          <p:cNvPr id="5" name="TextBox 4"/>
          <p:cNvSpPr txBox="1"/>
          <p:nvPr/>
        </p:nvSpPr>
        <p:spPr>
          <a:xfrm>
            <a:off x="311760" y="1150000"/>
            <a:ext cx="2700000" cy="400000"/>
          </a:xfrm>
          <a:prstGeom prst="rect">
            <a:avLst/>
          </a:prstGeom>
          <a:noFill/>
        </p:spPr>
        <p:txBody>
          <a:bodyPr wrap="square" anchor="t" lIns="45720" rIns="45720">
            <a:spAutoFit/>
          </a:bodyPr>
          <a:lstStyle/>
          <a:p>
            <a:pPr algn="l">
              <a:spcAft>
                <a:spcPts val="600"/>
              </a:spcAft>
            </a:pPr>
            <a:r>
              <a:rPr sz="1800" b="1" i="0">
                <a:solidFill>
                  <a:srgbClr val="0065BD"/>
                </a:solidFill>
                <a:latin typeface="Arial"/>
              </a:rPr>
              <a:t>Done</a:t>
            </a:r>
          </a:p>
        </p:txBody>
      </p:sp>
      <p:sp>
        <p:nvSpPr>
          <p:cNvPr id="6" name="TextBox 5"/>
          <p:cNvSpPr txBox="1"/>
          <p:nvPr/>
        </p:nvSpPr>
        <p:spPr>
          <a:xfrm>
            <a:off x="311760" y="1650000"/>
            <a:ext cx="2700000" cy="2500000"/>
          </a:xfrm>
          <a:prstGeom prst="rect">
            <a:avLst/>
          </a:prstGeom>
          <a:noFill/>
        </p:spPr>
        <p:txBody>
          <a:bodyPr wrap="square" anchor="t" lIns="45720" rIns="45720">
            <a:spAutoFit/>
          </a:bodyPr>
          <a:lstStyle/>
          <a:p>
            <a:pPr algn="l">
              <a:spcAft>
                <a:spcPts val="1200"/>
              </a:spcAft>
            </a:pPr>
            <a:r>
              <a:rPr sz="1500" b="0" i="0">
                <a:solidFill>
                  <a:srgbClr val="000000"/>
                </a:solidFill>
                <a:latin typeface="Arial"/>
              </a:rPr>
              <a:t>• Project + key papers read</a:t>
            </a:r>
          </a:p>
          <a:p>
            <a:pPr algn="l">
              <a:spcAft>
                <a:spcPts val="1200"/>
              </a:spcAft>
            </a:pPr>
            <a:r>
              <a:rPr sz="1500" b="0" i="0">
                <a:solidFill>
                  <a:srgbClr val="000000"/>
                </a:solidFill>
                <a:latin typeface="Arial"/>
              </a:rPr>
              <a:t>• Repo, issue tracker, protocols</a:t>
            </a:r>
          </a:p>
          <a:p>
            <a:pPr algn="l">
              <a:spcAft>
                <a:spcPts val="1200"/>
              </a:spcAft>
            </a:pPr>
            <a:r>
              <a:rPr sz="1500" b="0" i="0">
                <a:solidFill>
                  <a:srgbClr val="000000"/>
                </a:solidFill>
                <a:latin typeface="Arial"/>
              </a:rPr>
              <a:t>• Plan + protocol draft</a:t>
            </a:r>
          </a:p>
        </p:txBody>
      </p:sp>
      <p:sp>
        <p:nvSpPr>
          <p:cNvPr id="7" name="TextBox 6"/>
          <p:cNvSpPr txBox="1"/>
          <p:nvPr/>
        </p:nvSpPr>
        <p:spPr>
          <a:xfrm>
            <a:off x="3211760" y="1150000"/>
            <a:ext cx="2700000" cy="400000"/>
          </a:xfrm>
          <a:prstGeom prst="rect">
            <a:avLst/>
          </a:prstGeom>
          <a:noFill/>
        </p:spPr>
        <p:txBody>
          <a:bodyPr wrap="square" anchor="t" lIns="45720" rIns="45720">
            <a:spAutoFit/>
          </a:bodyPr>
          <a:lstStyle/>
          <a:p>
            <a:pPr algn="l">
              <a:spcAft>
                <a:spcPts val="600"/>
              </a:spcAft>
            </a:pPr>
            <a:r>
              <a:rPr sz="1800" b="1" i="0">
                <a:solidFill>
                  <a:srgbClr val="E37222"/>
                </a:solidFill>
                <a:latin typeface="Arial"/>
              </a:rPr>
              <a:t>Expected roadblock</a:t>
            </a:r>
          </a:p>
        </p:txBody>
      </p:sp>
      <p:sp>
        <p:nvSpPr>
          <p:cNvPr id="8" name="TextBox 7"/>
          <p:cNvSpPr txBox="1"/>
          <p:nvPr/>
        </p:nvSpPr>
        <p:spPr>
          <a:xfrm>
            <a:off x="3211760" y="1650000"/>
            <a:ext cx="2700000" cy="2500000"/>
          </a:xfrm>
          <a:prstGeom prst="rect">
            <a:avLst/>
          </a:prstGeom>
          <a:noFill/>
        </p:spPr>
        <p:txBody>
          <a:bodyPr wrap="square" anchor="t" lIns="45720" rIns="45720">
            <a:spAutoFit/>
          </a:bodyPr>
          <a:lstStyle/>
          <a:p>
            <a:pPr algn="l">
              <a:spcAft>
                <a:spcPts val="1200"/>
              </a:spcAft>
            </a:pPr>
            <a:r>
              <a:rPr sz="1500" b="0" i="0">
                <a:solidFill>
                  <a:srgbClr val="000000"/>
                </a:solidFill>
                <a:latin typeface="Arial"/>
              </a:rPr>
              <a:t>• Compute: EC lookup set</a:t>
            </a:r>
          </a:p>
          <a:p>
            <a:pPr algn="l">
              <a:spcAft>
                <a:spcPts val="1200"/>
              </a:spcAft>
            </a:pPr>
            <a:r>
              <a:rPr sz="1500" b="0" i="0">
                <a:solidFill>
                  <a:srgbClr val="000000"/>
                </a:solidFill>
                <a:latin typeface="Arial"/>
              </a:rPr>
              <a:t>• ESM-2 3B embeddings</a:t>
            </a:r>
          </a:p>
          <a:p>
            <a:pPr algn="l">
              <a:spcAft>
                <a:spcPts val="1200"/>
              </a:spcAft>
            </a:pPr>
            <a:r>
              <a:rPr sz="1500" b="0" i="0">
                <a:solidFill>
                  <a:srgbClr val="000000"/>
                </a:solidFill>
                <a:latin typeface="Arial"/>
              </a:rPr>
              <a:t>• k-NN search at scale</a:t>
            </a:r>
          </a:p>
        </p:txBody>
      </p:sp>
      <p:sp>
        <p:nvSpPr>
          <p:cNvPr id="9" name="TextBox 8"/>
          <p:cNvSpPr txBox="1"/>
          <p:nvPr/>
        </p:nvSpPr>
        <p:spPr>
          <a:xfrm>
            <a:off x="6111760" y="1150000"/>
            <a:ext cx="2700000" cy="400000"/>
          </a:xfrm>
          <a:prstGeom prst="rect">
            <a:avLst/>
          </a:prstGeom>
          <a:noFill/>
        </p:spPr>
        <p:txBody>
          <a:bodyPr wrap="square" anchor="t" lIns="45720" rIns="45720">
            <a:spAutoFit/>
          </a:bodyPr>
          <a:lstStyle/>
          <a:p>
            <a:pPr algn="l">
              <a:spcAft>
                <a:spcPts val="600"/>
              </a:spcAft>
            </a:pPr>
            <a:r>
              <a:rPr sz="1800" b="1" i="0">
                <a:solidFill>
                  <a:srgbClr val="595959"/>
                </a:solidFill>
                <a:latin typeface="Arial"/>
              </a:rPr>
              <a:t>Asks for you</a:t>
            </a:r>
          </a:p>
        </p:txBody>
      </p:sp>
      <p:sp>
        <p:nvSpPr>
          <p:cNvPr id="10" name="TextBox 9"/>
          <p:cNvSpPr txBox="1"/>
          <p:nvPr/>
        </p:nvSpPr>
        <p:spPr>
          <a:xfrm>
            <a:off x="6111760" y="1650000"/>
            <a:ext cx="2700000" cy="2500000"/>
          </a:xfrm>
          <a:prstGeom prst="rect">
            <a:avLst/>
          </a:prstGeom>
          <a:noFill/>
        </p:spPr>
        <p:txBody>
          <a:bodyPr wrap="square" anchor="t" lIns="45720" rIns="45720">
            <a:spAutoFit/>
          </a:bodyPr>
          <a:lstStyle/>
          <a:p>
            <a:pPr algn="l">
              <a:spcAft>
                <a:spcPts val="1200"/>
              </a:spcAft>
            </a:pPr>
            <a:r>
              <a:rPr sz="1500" b="0" i="0">
                <a:solidFill>
                  <a:srgbClr val="000000"/>
                </a:solidFill>
                <a:latin typeface="Arial"/>
              </a:rPr>
              <a:t>• GPU / cluster access?</a:t>
            </a:r>
          </a:p>
          <a:p>
            <a:pPr algn="l">
              <a:spcAft>
                <a:spcPts val="1200"/>
              </a:spcAft>
            </a:pPr>
            <a:r>
              <a:rPr sz="1500" b="0" i="0">
                <a:solidFill>
                  <a:srgbClr val="000000"/>
                </a:solidFill>
                <a:latin typeface="Arial"/>
              </a:rPr>
              <a:t>• EC source: UniProt or HFSP?</a:t>
            </a:r>
          </a:p>
          <a:p>
            <a:pPr algn="l">
              <a:spcAft>
                <a:spcPts val="1200"/>
              </a:spcAft>
            </a:pPr>
            <a:r>
              <a:rPr sz="1500" b="0" i="0">
                <a:solidFill>
                  <a:srgbClr val="000000"/>
                </a:solidFill>
                <a:latin typeface="Arial"/>
              </a:rPr>
              <a:t>• When to freeze splits?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0" i="0">
                <a:solidFill>
                  <a:srgbClr val="000000"/>
                </a:solidFill>
                <a:latin typeface="Arial"/>
              </a:rPr>
              <a:t>References</a:t>
            </a:r>
          </a:p>
        </p:txBody>
      </p:sp>
      <p:sp>
        <p:nvSpPr>
          <p:cNvPr id="3" name="Content Placeholder 2"/>
          <p:cNvSpPr>
            <a:spLocks noGrp="1"/>
          </p:cNvSpPr>
          <p:nvPr>
            <p:ph/>
          </p:nvPr>
        </p:nvSpPr>
        <p:spPr/>
        <p:txBody>
          <a:bodyPr/>
          <a:lstStyle/>
          <a:p/>
        </p:txBody>
      </p:sp>
      <p:sp>
        <p:nvSpPr>
          <p:cNvPr id="4" name="PlaceHolder 3"/>
          <p:cNvSpPr>
            <a:spLocks noGrp="1"/>
          </p:cNvSpPr>
          <p:nvPr>
            <p:ph type="sldNum" idx="4"/>
          </p:nvPr>
        </p:nvSpPr>
        <p:spPr/>
        <p:txBody>
          <a:bodyPr/>
          <a:p>
            <a:fld id="{022DDFD0-1DF1-4F6A-9B35-C12DB353A077}" type="slidenum">
              <a:t>3</a:t>
            </a:fld>
          </a:p>
        </p:txBody>
      </p:sp>
      <p:sp>
        <p:nvSpPr>
          <p:cNvPr id="5" name="TextBox 4"/>
          <p:cNvSpPr txBox="1"/>
          <p:nvPr/>
        </p:nvSpPr>
        <p:spPr>
          <a:xfrm>
            <a:off x="311760" y="1000000"/>
            <a:ext cx="8518320" cy="3400000"/>
          </a:xfrm>
          <a:prstGeom prst="rect">
            <a:avLst/>
          </a:prstGeom>
          <a:noFill/>
        </p:spPr>
        <p:txBody>
          <a:bodyPr wrap="square" anchor="t" lIns="45720" rIns="45720">
            <a:spAutoFit/>
          </a:bodyPr>
          <a:lstStyle/>
          <a:p>
            <a:pPr algn="l">
              <a:spcAft>
                <a:spcPts val="800"/>
              </a:spcAft>
            </a:pPr>
            <a:r>
              <a:rPr sz="1200" b="0" i="0">
                <a:solidFill>
                  <a:srgbClr val="000000"/>
                </a:solidFill>
                <a:latin typeface="Arial"/>
              </a:rPr>
              <a:t>[1] UniProt Consortium. UniProt: the Universal Protein Knowledgebase. Nucleic Acids Res (2025).</a:t>
            </a:r>
          </a:p>
          <a:p>
            <a:pPr algn="l">
              <a:spcAft>
                <a:spcPts val="800"/>
              </a:spcAft>
            </a:pPr>
            <a:r>
              <a:rPr sz="1200" b="0" i="0">
                <a:solidFill>
                  <a:srgbClr val="000000"/>
                </a:solidFill>
                <a:latin typeface="Arial"/>
              </a:rPr>
              <a:t>[2] M. Littmann … B. Rost. Embeddings from deep learning transfer GO annotations beyond homology. Sci Rep (2021).</a:t>
            </a:r>
          </a:p>
          <a:p>
            <a:pPr algn="l">
              <a:spcAft>
                <a:spcPts val="800"/>
              </a:spcAft>
            </a:pPr>
            <a:r>
              <a:rPr sz="1200" b="0" i="0">
                <a:solidFill>
                  <a:srgbClr val="000000"/>
                </a:solidFill>
                <a:latin typeface="Arial"/>
              </a:rPr>
              <a:t>[3] M. Heinzinger … B. Rost. Contrastive learning on protein embeddings enlightens midnight zone. NAR Genom Bioinform (2022).</a:t>
            </a:r>
          </a:p>
          <a:p>
            <a:pPr algn="l">
              <a:spcAft>
                <a:spcPts val="800"/>
              </a:spcAft>
            </a:pPr>
            <a:r>
              <a:rPr sz="1200" b="0" i="0">
                <a:solidFill>
                  <a:srgbClr val="000000"/>
                </a:solidFill>
                <a:latin typeface="Arial"/>
              </a:rPr>
              <a:t>[4] A. Elnaggar … B. Rost. Ankh: Optimized protein language model unlocks general-purpose modelling. arXiv (2023).</a:t>
            </a:r>
          </a:p>
          <a:p>
            <a:pPr algn="l">
              <a:spcAft>
                <a:spcPts val="800"/>
              </a:spcAft>
            </a:pPr>
            <a:r>
              <a:rPr sz="1200" b="0" i="0">
                <a:solidFill>
                  <a:srgbClr val="000000"/>
                </a:solidFill>
                <a:latin typeface="Arial"/>
              </a:rPr>
              <a:t>[5] D. Miller … C. Orengo. ContrasTED: Contrastive domain embeddings for remote homology classification. bioRxiv (2026).</a:t>
            </a:r>
          </a:p>
          <a:p>
            <a:pPr algn="l">
              <a:spcAft>
                <a:spcPts val="800"/>
              </a:spcAft>
            </a:pPr>
            <a:r>
              <a:rPr sz="1200" b="0" i="0">
                <a:solidFill>
                  <a:srgbClr val="000000"/>
                </a:solidFill>
                <a:latin typeface="Arial"/>
              </a:rPr>
              <a:t>[6] Y. Mahlich … Y. Bromberg. HFSP: High speed homology-driven function annotation of proteins. Bioinformatics (2018).</a:t>
            </a:r>
          </a:p>
          <a:p>
            <a:pPr algn="l">
              <a:spcAft>
                <a:spcPts val="800"/>
              </a:spcAft>
            </a:pPr>
            <a:r>
              <a:rPr sz="1200" b="0" i="0">
                <a:solidFill>
                  <a:srgbClr val="000000"/>
                </a:solidFill>
                <a:latin typeface="Arial"/>
              </a:rPr>
              <a:t>Project description: Chair of Bioinformatics (I12), TUM. EAT: A benchmark for annotation transfer with raw pLM embeddings (2026).</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159</TotalTime>
  <Application>Collabora_Office/25.04.2.2$Linux_X86_64 LibreOffice_project/b678ed74695d64e638db9eb734e86703ad84516d</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de-DE</dc:language>
  <cp:lastModifiedBy/>
  <cp:lastPrinted>2024-11-04T10:14:39Z</cp:lastPrinted>
  <dcterms:modified xsi:type="dcterms:W3CDTF">2025-02-04T10:36:44Z</dcterms:modified>
  <cp:revision>23</cp:revision>
  <dc:subject/>
  <dc:title/>
</cp:coreProperties>
</file>

<file path=docProps/custom.xml><?xml version="1.0" encoding="utf-8"?>
<Properties xmlns="http://schemas.openxmlformats.org/officeDocument/2006/custom-properties" xmlns:vt="http://schemas.openxmlformats.org/officeDocument/2006/docPropsVTypes"/>
</file>